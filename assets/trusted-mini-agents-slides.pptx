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  <p:sldMasterId id="2147483674" r:id="rId6"/>
  </p:sldMasterIdLst>
  <p:notesMasterIdLst>
    <p:notesMasterId r:id="rId39"/>
  </p:notesMasterIdLst>
  <p:handoutMasterIdLst>
    <p:handoutMasterId r:id="rId40"/>
  </p:handoutMasterIdLst>
  <p:sldIdLst>
    <p:sldId id="263" r:id="rId7"/>
    <p:sldId id="455" r:id="rId8"/>
    <p:sldId id="484" r:id="rId9"/>
    <p:sldId id="486" r:id="rId10"/>
    <p:sldId id="462" r:id="rId11"/>
    <p:sldId id="458" r:id="rId12"/>
    <p:sldId id="459" r:id="rId13"/>
    <p:sldId id="463" r:id="rId14"/>
    <p:sldId id="481" r:id="rId15"/>
    <p:sldId id="464" r:id="rId16"/>
    <p:sldId id="467" r:id="rId17"/>
    <p:sldId id="483" r:id="rId18"/>
    <p:sldId id="468" r:id="rId19"/>
    <p:sldId id="469" r:id="rId20"/>
    <p:sldId id="256" r:id="rId21"/>
    <p:sldId id="491" r:id="rId22"/>
    <p:sldId id="493" r:id="rId23"/>
    <p:sldId id="258" r:id="rId24"/>
    <p:sldId id="471" r:id="rId25"/>
    <p:sldId id="500" r:id="rId26"/>
    <p:sldId id="487" r:id="rId27"/>
    <p:sldId id="474" r:id="rId28"/>
    <p:sldId id="475" r:id="rId29"/>
    <p:sldId id="494" r:id="rId30"/>
    <p:sldId id="497" r:id="rId31"/>
    <p:sldId id="470" r:id="rId32"/>
    <p:sldId id="472" r:id="rId33"/>
    <p:sldId id="499" r:id="rId34"/>
    <p:sldId id="473" r:id="rId35"/>
    <p:sldId id="489" r:id="rId36"/>
    <p:sldId id="490" r:id="rId37"/>
    <p:sldId id="501" r:id="rId38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0"/>
        <a:cs typeface="+mn-cs"/>
      </a:defRPr>
    </a:lvl1pPr>
    <a:lvl2pPr marL="40819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0"/>
        <a:cs typeface="+mn-cs"/>
      </a:defRPr>
    </a:lvl2pPr>
    <a:lvl3pPr marL="81638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0"/>
        <a:cs typeface="+mn-cs"/>
      </a:defRPr>
    </a:lvl3pPr>
    <a:lvl4pPr marL="122458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0"/>
        <a:cs typeface="+mn-cs"/>
      </a:defRPr>
    </a:lvl4pPr>
    <a:lvl5pPr marL="163277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0"/>
        <a:cs typeface="+mn-cs"/>
      </a:defRPr>
    </a:lvl5pPr>
    <a:lvl6pPr marL="2040969" algn="l" defTabSz="408194" rtl="0" eaLnBrk="1" latinLnBrk="0" hangingPunct="1">
      <a:defRPr kern="1200">
        <a:solidFill>
          <a:schemeClr val="tx1"/>
        </a:solidFill>
        <a:latin typeface="Arial" charset="0"/>
        <a:ea typeface="ヒラギノ角ゴ Pro W3" charset="0"/>
        <a:cs typeface="+mn-cs"/>
      </a:defRPr>
    </a:lvl6pPr>
    <a:lvl7pPr marL="2449163" algn="l" defTabSz="408194" rtl="0" eaLnBrk="1" latinLnBrk="0" hangingPunct="1">
      <a:defRPr kern="1200">
        <a:solidFill>
          <a:schemeClr val="tx1"/>
        </a:solidFill>
        <a:latin typeface="Arial" charset="0"/>
        <a:ea typeface="ヒラギノ角ゴ Pro W3" charset="0"/>
        <a:cs typeface="+mn-cs"/>
      </a:defRPr>
    </a:lvl7pPr>
    <a:lvl8pPr marL="2857357" algn="l" defTabSz="408194" rtl="0" eaLnBrk="1" latinLnBrk="0" hangingPunct="1">
      <a:defRPr kern="1200">
        <a:solidFill>
          <a:schemeClr val="tx1"/>
        </a:solidFill>
        <a:latin typeface="Arial" charset="0"/>
        <a:ea typeface="ヒラギノ角ゴ Pro W3" charset="0"/>
        <a:cs typeface="+mn-cs"/>
      </a:defRPr>
    </a:lvl8pPr>
    <a:lvl9pPr marL="3265551" algn="l" defTabSz="408194" rtl="0" eaLnBrk="1" latinLnBrk="0" hangingPunct="1">
      <a:defRPr kern="1200">
        <a:solidFill>
          <a:schemeClr val="tx1"/>
        </a:solidFill>
        <a:latin typeface="Arial" charset="0"/>
        <a:ea typeface="ヒラギノ角ゴ Pro W3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1F372A-C56C-056F-FE11-1D0A6C712872}" name="Stuart Y Keller" initials="SK" userId="S::stu_keller@lilly.com::91f172c8-81db-4be0-8862-cc9235fbd8d5" providerId="AD"/>
  <p188:author id="{999F763F-BD18-33F8-067F-737D41C754C8}" name="So Young Park" initials="" userId="S::park_so_young@lilly.com::2ef4e093-6768-45a6-a171-cead008d43f4" providerId="AD"/>
  <p188:author id="{362F9B75-3738-E284-E3D5-048C31FB8386}" name="Will Landau" initials="WL" userId="S::will.landau@lilly.com::ec9685c9-f8e1-41c4-8bba-081f17b78a1c" providerId="AD"/>
  <p188:author id="{E62EB4F7-977D-B681-7454-6F758D6FFD22}" name="Priyanka Sen" initials="PS" userId="S::sen_priyanka@lilly.com::a1da0df0-ad6c-4811-938e-18187355f70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6B5A"/>
    <a:srgbClr val="7C2E1D"/>
    <a:srgbClr val="B7AEE3"/>
    <a:srgbClr val="453C8C"/>
    <a:srgbClr val="15598C"/>
    <a:srgbClr val="D52A1E"/>
    <a:srgbClr val="DDEBF4"/>
    <a:srgbClr val="712A13"/>
    <a:srgbClr val="F8E7E3"/>
    <a:srgbClr val="B7A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/>
    <p:restoredTop sz="94659"/>
  </p:normalViewPr>
  <p:slideViewPr>
    <p:cSldViewPr snapToGrid="0">
      <p:cViewPr varScale="1">
        <p:scale>
          <a:sx n="195" d="100"/>
          <a:sy n="195" d="100"/>
        </p:scale>
        <p:origin x="116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handoutMaster" Target="handoutMasters/handoutMaster1.xml"/><Relationship Id="rId45" Type="http://schemas.microsoft.com/office/2018/10/relationships/authors" Target="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A687364-E240-4147-8A50-0C0AF022C133}" type="datetime1">
              <a:rPr lang="en-US"/>
              <a:pPr/>
              <a:t>9/24/2026</a:t>
            </a:fld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D300906-530D-C748-AC79-F41D6AA727D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823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A453B76-649C-1047-AB39-06CD9CC3743F}" type="datetime1">
              <a:rPr lang="en-US"/>
              <a:pPr/>
              <a:t>9/24/2026</a:t>
            </a:fld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45A613-7C39-204D-9E84-E8628D5964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9903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ヒラギノ角ゴ Pro W3" charset="0"/>
        <a:cs typeface="+mn-cs"/>
      </a:defRPr>
    </a:lvl1pPr>
    <a:lvl2pPr marL="408194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ヒラギノ角ゴ Pro W3" charset="0"/>
        <a:cs typeface="+mn-cs"/>
      </a:defRPr>
    </a:lvl2pPr>
    <a:lvl3pPr marL="816388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ヒラギノ角ゴ Pro W3" charset="0"/>
        <a:cs typeface="+mn-cs"/>
      </a:defRPr>
    </a:lvl3pPr>
    <a:lvl4pPr marL="1224582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ヒラギノ角ゴ Pro W3" charset="0"/>
        <a:cs typeface="+mn-cs"/>
      </a:defRPr>
    </a:lvl4pPr>
    <a:lvl5pPr marL="1632776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ヒラギノ角ゴ Pro W3" charset="0"/>
        <a:cs typeface="+mn-cs"/>
      </a:defRPr>
    </a:lvl5pPr>
    <a:lvl6pPr marL="2040969" algn="l" defTabSz="81638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49163" algn="l" defTabSz="81638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57357" algn="l" defTabSz="81638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65551" algn="l" defTabSz="81638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B3DA7-6441-9B10-36D2-3A448539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525BC6-D2B8-0947-877D-0E28101F2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A871B-CAAD-E18E-0D50-0625620FF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A1C5E-A65B-B65E-BC9A-ADCDFAE5C3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9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3177B-7465-CC6D-9EA7-62A67A66C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51FA6-7983-36CB-ABD7-D5025F2CE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581A7-B954-9B99-04B8-FCA780E2E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27DBE-F63F-8B28-AD9B-3433E7F476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69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F18B5-51A6-CFB0-C3E1-85792DE59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0915B-1D62-3B03-B918-12FEEA1A4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8172A-D69C-A5C8-1EB1-4160F70DC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18241-EE38-A2A8-CE57-9CFC99138C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13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BB96-29DE-E529-C367-61451142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F1DF9D-EF1F-794B-EDD6-8EA0AA47A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17592-7F4B-DAE9-6C81-3B53209DE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0F913-F221-DE50-BCF2-5F4FB87C60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34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F4AC7-FF41-7539-07CE-926399700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3B9C4-3DCF-2829-C4BA-7687EB982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D75EF-3AE3-DE11-062F-D2446BE2D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64154-A857-FD18-62B9-9616038C93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76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80EEC-BB87-C36B-9B49-4CE09363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3FDE4-CAFD-7061-E408-AC0ECE02C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24A1A-A799-DB47-B8EF-3481E423A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EE182-7FB2-C797-05DA-6A67F3CB9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88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086D5-41AB-A001-C3D2-F6C4708E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35EC4-B0FB-6954-161F-6E775C312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E08E1-3B0A-19C6-782B-AA7FC2F3F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B48B4-8C61-D05D-F7E8-E592AE300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06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BFCBD-FCA5-BD0E-D0FB-819233572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E8B51D-ABDD-8503-4DDB-028055CE1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95961-A1ED-1619-605B-CB1003321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28CFC-1123-D192-B190-3FBF06AEA8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96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D2B46-9E65-95DE-108E-C15DF6B10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542CE-A05B-CE1B-B241-E58B8762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704F7-FF53-91A8-044B-75B8BBFAA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5CC02-08C3-A447-B21A-52150FA78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53041-D661-DD07-2AAB-1EB1EE95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AA8A4-178F-608D-BCC3-07721F948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D3C6D-9ACA-5058-FEE5-2AD0B091D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D6E6C-3836-69EE-BF70-25E00D5B5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76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5B604-4C76-89B1-765F-52103DEAA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57310-3854-47F2-EBD7-03F585D19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5CEB4-B641-53D9-2FE4-3FEB3F3AC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23AEA-3605-E7BE-F0D9-B01933871B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01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756B4-210C-0A79-8808-9CA65CB7E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7B747-C87B-01D6-2FCE-46DA03FA4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2F4DE-E97C-62BE-136F-67D5A6BD0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A8FCA-FA7D-10E3-1F0C-9580BA1FBC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55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-1"/>
            <a:ext cx="9144000" cy="514350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639" tIns="40819" rIns="81639" bIns="40819" rtlCol="0" anchor="ctr"/>
          <a:lstStyle/>
          <a:p>
            <a:pPr algn="ctr"/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" y="1586995"/>
            <a:ext cx="9143999" cy="564852"/>
          </a:xfrm>
          <a:effectLst/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+mj-lt"/>
                <a:cs typeface="DIN-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231939"/>
            <a:ext cx="9144000" cy="341281"/>
          </a:xfrm>
          <a:effectLst/>
        </p:spPr>
        <p:txBody>
          <a:bodyPr/>
          <a:lstStyle>
            <a:lvl1pPr marL="0" indent="0" algn="ctr">
              <a:buFontTx/>
              <a:buNone/>
              <a:defRPr sz="1800" b="1" i="1">
                <a:solidFill>
                  <a:schemeClr val="bg1"/>
                </a:solidFill>
                <a:latin typeface="+mj-lt"/>
                <a:cs typeface="DIN-Bold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485" y="4586030"/>
            <a:ext cx="735701" cy="40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0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-1"/>
            <a:ext cx="9144000" cy="514350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639" tIns="40819" rIns="81639" bIns="40819" rtlCol="0" anchor="ctr"/>
          <a:lstStyle/>
          <a:p>
            <a:pPr algn="ctr"/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" y="1586995"/>
            <a:ext cx="9143999" cy="564852"/>
          </a:xfrm>
          <a:effectLst/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+mj-lt"/>
                <a:cs typeface="DIN-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231939"/>
            <a:ext cx="9144000" cy="341281"/>
          </a:xfrm>
          <a:effectLst/>
        </p:spPr>
        <p:txBody>
          <a:bodyPr/>
          <a:lstStyle>
            <a:lvl1pPr marL="0" indent="0" algn="ctr">
              <a:buFontTx/>
              <a:buNone/>
              <a:defRPr sz="1800" b="1" i="1">
                <a:solidFill>
                  <a:schemeClr val="bg1"/>
                </a:solidFill>
                <a:latin typeface="+mj-lt"/>
                <a:cs typeface="DIN-Bold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63448" y="4614379"/>
            <a:ext cx="2271218" cy="244018"/>
          </a:xfrm>
          <a:prstGeom prst="rect">
            <a:avLst/>
          </a:prstGeom>
          <a:noFill/>
        </p:spPr>
        <p:txBody>
          <a:bodyPr wrap="none" lIns="81639" tIns="40819" rIns="81639" bIns="40819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700">
                <a:solidFill>
                  <a:srgbClr val="FFFFFF"/>
                </a:solidFill>
              </a:rPr>
              <a:t>Company Confidential </a:t>
            </a:r>
            <a:r>
              <a:rPr lang="en-US" sz="700" baseline="0">
                <a:solidFill>
                  <a:srgbClr val="FFFFFF"/>
                </a:solidFill>
              </a:rPr>
              <a:t> </a:t>
            </a:r>
            <a:r>
              <a:rPr lang="en-US" sz="700">
                <a:solidFill>
                  <a:srgbClr val="FFFFFF"/>
                </a:solidFill>
              </a:rPr>
              <a:t>© 2017 Eli Lilly and Company</a:t>
            </a:r>
          </a:p>
        </p:txBody>
      </p:sp>
    </p:spTree>
    <p:extLst>
      <p:ext uri="{BB962C8B-B14F-4D97-AF65-F5344CB8AC3E}">
        <p14:creationId xmlns:p14="http://schemas.microsoft.com/office/powerpoint/2010/main" val="422463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6CD25E7-720E-4F27-8B12-5843D07FDCAD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F8C391-ED89-4F4C-8D9D-AFC8E823822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906026"/>
            <a:ext cx="2895600" cy="16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lvl1pPr algn="ctr">
              <a:defRPr sz="700"/>
            </a:lvl1pPr>
          </a:lstStyle>
          <a:p>
            <a:r>
              <a:rPr lang="en-US"/>
              <a:t>Company Confidential  © 2017 Eli Lilly and Company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674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0E7E-07E3-4481-BD06-49619C2D4A91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Company Confidential  © 2017 Eli Lilly and Company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47640-ECEC-E34E-A5C6-81F2A80A83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63"/>
            <a:ext cx="4038600" cy="36166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6898"/>
            <a:ext cx="4038600" cy="36166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505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8194" indent="0">
              <a:buNone/>
              <a:defRPr sz="1800" b="1"/>
            </a:lvl2pPr>
            <a:lvl3pPr marL="816388" indent="0">
              <a:buNone/>
              <a:defRPr sz="1600" b="1"/>
            </a:lvl3pPr>
            <a:lvl4pPr marL="1224582" indent="0">
              <a:buNone/>
              <a:defRPr sz="1400" b="1"/>
            </a:lvl4pPr>
            <a:lvl5pPr marL="1632776" indent="0">
              <a:buNone/>
              <a:defRPr sz="1400" b="1"/>
            </a:lvl5pPr>
            <a:lvl6pPr marL="2040969" indent="0">
              <a:buNone/>
              <a:defRPr sz="1400" b="1"/>
            </a:lvl6pPr>
            <a:lvl7pPr marL="2449163" indent="0">
              <a:buNone/>
              <a:defRPr sz="1400" b="1"/>
            </a:lvl7pPr>
            <a:lvl8pPr marL="2857357" indent="0">
              <a:buNone/>
              <a:defRPr sz="1400" b="1"/>
            </a:lvl8pPr>
            <a:lvl9pPr marL="3265551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8194" indent="0">
              <a:buNone/>
              <a:defRPr sz="1800" b="1"/>
            </a:lvl2pPr>
            <a:lvl3pPr marL="816388" indent="0">
              <a:buNone/>
              <a:defRPr sz="1600" b="1"/>
            </a:lvl3pPr>
            <a:lvl4pPr marL="1224582" indent="0">
              <a:buNone/>
              <a:defRPr sz="1400" b="1"/>
            </a:lvl4pPr>
            <a:lvl5pPr marL="1632776" indent="0">
              <a:buNone/>
              <a:defRPr sz="1400" b="1"/>
            </a:lvl5pPr>
            <a:lvl6pPr marL="2040969" indent="0">
              <a:buNone/>
              <a:defRPr sz="1400" b="1"/>
            </a:lvl6pPr>
            <a:lvl7pPr marL="2449163" indent="0">
              <a:buNone/>
              <a:defRPr sz="1400" b="1"/>
            </a:lvl7pPr>
            <a:lvl8pPr marL="2857357" indent="0">
              <a:buNone/>
              <a:defRPr sz="1400" b="1"/>
            </a:lvl8pPr>
            <a:lvl9pPr marL="3265551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1730-4DC8-449A-AB72-9906BB1CCC7A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Company Confidential  © 2017 Eli Lilly and Company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9DA18-FF8C-4C8B-96F7-4A37E528F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4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A23EAC-D21D-7342-8802-301CE4F78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603C365-C8AE-8545-88F8-AE2D5AB51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57200" y="79252"/>
            <a:ext cx="8229600" cy="85725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>
            <a:lvl1pPr>
              <a:defRPr sz="3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5D654AB-BF52-8246-A4ED-C628D6CD2F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209994"/>
            <a:ext cx="7885907" cy="3263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" indent="0">
              <a:buFontTx/>
              <a:buNone/>
              <a:defRPr sz="1875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9" name="Date Placeholder 2">
            <a:extLst>
              <a:ext uri="{FF2B5EF4-FFF2-40B4-BE49-F238E27FC236}">
                <a16:creationId xmlns:a16="http://schemas.microsoft.com/office/drawing/2014/main" id="{F72417E2-157B-5141-BAF2-5B51D619FD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anchor="ctr"/>
          <a:lstStyle>
            <a:lvl1pPr>
              <a:defRPr sz="75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22F276D-2F55-4342-BA4C-590689A0D9DF}" type="datetime1">
              <a:rPr lang="en-US" smtClean="0"/>
              <a:t>9/24/2026</a:t>
            </a:fld>
            <a:endParaRPr lang="en-US"/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B645FE2A-3239-054E-B5F6-3DA50695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anchor="ctr"/>
          <a:lstStyle>
            <a:lvl1pPr algn="ctr">
              <a:defRPr sz="7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©2020 Eli Lilly and Company </a:t>
            </a:r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612DD083-FDC4-B240-821E-3F6D14262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anchor="ctr"/>
          <a:lstStyle>
            <a:lvl1pPr algn="r">
              <a:defRPr sz="75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A26E4DD-3705-C34F-BBF3-04369A652A4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6643"/>
            <a:ext cx="8229600" cy="3445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57200" y="4572000"/>
            <a:ext cx="8229600" cy="2743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750">
                <a:latin typeface="Arial Narrow" panose="020B0606020202030204" pitchFamily="34" charset="0"/>
              </a:defRPr>
            </a:lvl1pPr>
            <a:lvl2pPr marL="342892" indent="0">
              <a:buNone/>
              <a:defRPr sz="900">
                <a:latin typeface="Arial Narrow" panose="020B0606020202030204" pitchFamily="34" charset="0"/>
              </a:defRPr>
            </a:lvl2pPr>
            <a:lvl3pPr marL="685783" indent="0">
              <a:buNone/>
              <a:defRPr sz="900">
                <a:latin typeface="Arial Narrow" panose="020B0606020202030204" pitchFamily="34" charset="0"/>
              </a:defRPr>
            </a:lvl3pPr>
            <a:lvl4pPr marL="1028675" indent="0">
              <a:buNone/>
              <a:defRPr sz="900">
                <a:latin typeface="Arial Narrow" panose="020B0606020202030204" pitchFamily="34" charset="0"/>
              </a:defRPr>
            </a:lvl4pPr>
            <a:lvl5pPr marL="1371566" indent="0">
              <a:buNone/>
              <a:defRPr sz="9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8FC225-CC1C-D4FE-B95C-1AD93527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582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C70BAD-7983-7C44-ACBE-E887444D4C47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342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C5DF09-E611-0543-95DA-4BE07DBDD5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185693"/>
            <a:ext cx="8229600" cy="772115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ts val="3062"/>
              </a:lnSpc>
              <a:defRPr sz="3125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SECTION TITLE</a:t>
            </a:r>
          </a:p>
        </p:txBody>
      </p:sp>
      <p:pic>
        <p:nvPicPr>
          <p:cNvPr id="5" name="Picture 4" descr="A picture containing light, drawing&#10;&#10;Description automatically generated">
            <a:extLst>
              <a:ext uri="{FF2B5EF4-FFF2-40B4-BE49-F238E27FC236}">
                <a16:creationId xmlns:a16="http://schemas.microsoft.com/office/drawing/2014/main" id="{B051A464-2209-764D-9B26-ADACACF4CD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64253" y="4176215"/>
            <a:ext cx="1015495" cy="55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6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905620"/>
            <a:ext cx="2133600" cy="160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lvl1pPr>
              <a:defRPr sz="700"/>
            </a:lvl1pPr>
          </a:lstStyle>
          <a:p>
            <a:fld id="{DF61076C-79F6-4F04-9A42-761E8ADA4754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906026"/>
            <a:ext cx="2895600" cy="16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lvl1pPr algn="ctr">
              <a:defRPr sz="700"/>
            </a:lvl1pPr>
          </a:lstStyle>
          <a:p>
            <a:r>
              <a:rPr lang="en-US"/>
              <a:t>Company Confidential  © 2017 Eli Lilly and Company 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906836"/>
            <a:ext cx="2133600" cy="185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fld id="{64C47640-ECEC-E34E-A5C6-81F2A80A83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92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99D89-84AE-45D4-B85E-E1DA5416FAE0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Company Confidential  © 2017 Eli Lilly and Company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47640-ECEC-E34E-A5C6-81F2A80A83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63"/>
            <a:ext cx="4038600" cy="36166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6898"/>
            <a:ext cx="4038600" cy="36166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8318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8194" indent="0">
              <a:buNone/>
              <a:defRPr sz="1800" b="1"/>
            </a:lvl2pPr>
            <a:lvl3pPr marL="816388" indent="0">
              <a:buNone/>
              <a:defRPr sz="1600" b="1"/>
            </a:lvl3pPr>
            <a:lvl4pPr marL="1224582" indent="0">
              <a:buNone/>
              <a:defRPr sz="1400" b="1"/>
            </a:lvl4pPr>
            <a:lvl5pPr marL="1632776" indent="0">
              <a:buNone/>
              <a:defRPr sz="1400" b="1"/>
            </a:lvl5pPr>
            <a:lvl6pPr marL="2040969" indent="0">
              <a:buNone/>
              <a:defRPr sz="1400" b="1"/>
            </a:lvl6pPr>
            <a:lvl7pPr marL="2449163" indent="0">
              <a:buNone/>
              <a:defRPr sz="1400" b="1"/>
            </a:lvl7pPr>
            <a:lvl8pPr marL="2857357" indent="0">
              <a:buNone/>
              <a:defRPr sz="1400" b="1"/>
            </a:lvl8pPr>
            <a:lvl9pPr marL="3265551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8194" indent="0">
              <a:buNone/>
              <a:defRPr sz="1800" b="1"/>
            </a:lvl2pPr>
            <a:lvl3pPr marL="816388" indent="0">
              <a:buNone/>
              <a:defRPr sz="1600" b="1"/>
            </a:lvl3pPr>
            <a:lvl4pPr marL="1224582" indent="0">
              <a:buNone/>
              <a:defRPr sz="1400" b="1"/>
            </a:lvl4pPr>
            <a:lvl5pPr marL="1632776" indent="0">
              <a:buNone/>
              <a:defRPr sz="1400" b="1"/>
            </a:lvl5pPr>
            <a:lvl6pPr marL="2040969" indent="0">
              <a:buNone/>
              <a:defRPr sz="1400" b="1"/>
            </a:lvl6pPr>
            <a:lvl7pPr marL="2449163" indent="0">
              <a:buNone/>
              <a:defRPr sz="1400" b="1"/>
            </a:lvl7pPr>
            <a:lvl8pPr marL="2857357" indent="0">
              <a:buNone/>
              <a:defRPr sz="1400" b="1"/>
            </a:lvl8pPr>
            <a:lvl9pPr marL="3265551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05DCC-4F73-4075-A250-B52CC0AB996B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Company Confidential  © 2016 Eli Lilly and Company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9DA18-FF8C-4C8B-96F7-4A37E528F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47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5"/>
            <a:ext cx="3008313" cy="3518298"/>
          </a:xfrm>
        </p:spPr>
        <p:txBody>
          <a:bodyPr/>
          <a:lstStyle>
            <a:lvl1pPr marL="0" indent="0">
              <a:buNone/>
              <a:defRPr sz="1300"/>
            </a:lvl1pPr>
            <a:lvl2pPr marL="408194" indent="0">
              <a:buNone/>
              <a:defRPr sz="1100"/>
            </a:lvl2pPr>
            <a:lvl3pPr marL="816388" indent="0">
              <a:buNone/>
              <a:defRPr sz="900"/>
            </a:lvl3pPr>
            <a:lvl4pPr marL="1224582" indent="0">
              <a:buNone/>
              <a:defRPr sz="800"/>
            </a:lvl4pPr>
            <a:lvl5pPr marL="1632776" indent="0">
              <a:buNone/>
              <a:defRPr sz="800"/>
            </a:lvl5pPr>
            <a:lvl6pPr marL="2040969" indent="0">
              <a:buNone/>
              <a:defRPr sz="800"/>
            </a:lvl6pPr>
            <a:lvl7pPr marL="2449163" indent="0">
              <a:buNone/>
              <a:defRPr sz="800"/>
            </a:lvl7pPr>
            <a:lvl8pPr marL="2857357" indent="0">
              <a:buNone/>
              <a:defRPr sz="800"/>
            </a:lvl8pPr>
            <a:lvl9pPr marL="3265551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6C07C-1736-415F-B3D0-BA29F2B12B53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Company Confidential  © 2017 Eli Lilly and Company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9DA18-FF8C-4C8B-96F7-4A37E528F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58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-1"/>
            <a:ext cx="9144000" cy="514350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639" tIns="40819" rIns="81639" bIns="40819" rtlCol="0" anchor="ctr"/>
          <a:lstStyle/>
          <a:p>
            <a:pPr algn="ctr"/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" y="1586995"/>
            <a:ext cx="9143999" cy="564852"/>
          </a:xfrm>
          <a:effectLst/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+mj-lt"/>
                <a:cs typeface="DIN-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231939"/>
            <a:ext cx="9144000" cy="341281"/>
          </a:xfrm>
          <a:effectLst/>
        </p:spPr>
        <p:txBody>
          <a:bodyPr/>
          <a:lstStyle>
            <a:lvl1pPr marL="0" indent="0" algn="ctr">
              <a:buFontTx/>
              <a:buNone/>
              <a:defRPr sz="1800" b="1" i="1">
                <a:solidFill>
                  <a:schemeClr val="bg1"/>
                </a:solidFill>
                <a:latin typeface="+mj-lt"/>
                <a:cs typeface="DIN-Bold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63448" y="4614379"/>
            <a:ext cx="2271218" cy="244018"/>
          </a:xfrm>
          <a:prstGeom prst="rect">
            <a:avLst/>
          </a:prstGeom>
          <a:noFill/>
        </p:spPr>
        <p:txBody>
          <a:bodyPr wrap="none" lIns="81639" tIns="40819" rIns="81639" bIns="40819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700">
                <a:solidFill>
                  <a:srgbClr val="FFFFFF"/>
                </a:solidFill>
              </a:rPr>
              <a:t>Company Confidential </a:t>
            </a:r>
            <a:r>
              <a:rPr lang="en-US" sz="700" baseline="0">
                <a:solidFill>
                  <a:srgbClr val="FFFFFF"/>
                </a:solidFill>
              </a:rPr>
              <a:t> </a:t>
            </a:r>
            <a:r>
              <a:rPr lang="en-US" sz="700">
                <a:solidFill>
                  <a:srgbClr val="FFFFFF"/>
                </a:solidFill>
              </a:rPr>
              <a:t>© 2017 Eli Lilly and Company</a:t>
            </a:r>
          </a:p>
        </p:txBody>
      </p:sp>
    </p:spTree>
    <p:extLst>
      <p:ext uri="{BB962C8B-B14F-4D97-AF65-F5344CB8AC3E}">
        <p14:creationId xmlns:p14="http://schemas.microsoft.com/office/powerpoint/2010/main" val="22273773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710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1"/>
            <a:ext cx="9144000" cy="851716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639" tIns="40819" rIns="81639" bIns="40819" rtlCol="0" anchor="ctr"/>
          <a:lstStyle/>
          <a:p>
            <a:pPr algn="ctr"/>
            <a:endParaRPr lang="en-US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5463"/>
            <a:ext cx="8229600" cy="823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1639" tIns="40819" rIns="81639" bIns="408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52596"/>
            <a:ext cx="8229600" cy="3599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905620"/>
            <a:ext cx="2133600" cy="160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lvl1pPr>
              <a:defRPr sz="700"/>
            </a:lvl1pPr>
          </a:lstStyle>
          <a:p>
            <a:fld id="{185B6A8B-2C0E-40CE-8859-53748CAEA8FF}" type="datetime1">
              <a:rPr lang="en-US" smtClean="0"/>
              <a:t>9/24/2026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906026"/>
            <a:ext cx="2895600" cy="16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lvl1pPr algn="ctr">
              <a:defRPr sz="700"/>
            </a:lvl1pPr>
          </a:lstStyle>
          <a:p>
            <a:r>
              <a:rPr lang="en-US"/>
              <a:t>Company Confidential  © 2017 Eli Lilly and Company 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906836"/>
            <a:ext cx="2133600" cy="185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fld id="{64C47640-ECEC-E34E-A5C6-81F2A80A839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2" r:id="rId3"/>
    <p:sldLayoutId id="2147483676" r:id="rId4"/>
    <p:sldLayoutId id="2147483678" r:id="rId5"/>
    <p:sldLayoutId id="2147483681" r:id="rId6"/>
    <p:sldLayoutId id="2147483682" r:id="rId7"/>
    <p:sldLayoutId id="2147483683" r:id="rId8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i="0">
          <a:solidFill>
            <a:srgbClr val="FFFFFF"/>
          </a:solidFill>
          <a:latin typeface="+mj-lt"/>
          <a:ea typeface="ヒラギノ角ゴ Pro W3" charset="0"/>
          <a:cs typeface="DIN-Bold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ヒラギノ角ゴ Pro W3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ヒラギノ角ゴ Pro W3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ヒラギノ角ゴ Pro W3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ヒラギノ角ゴ Pro W3" charset="0"/>
        </a:defRPr>
      </a:lvl5pPr>
      <a:lvl6pPr marL="408194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816388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224582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632776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306146" indent="-306146" algn="l" rtl="0" eaLnBrk="1" fontAlgn="base" hangingPunct="1">
        <a:spcBef>
          <a:spcPct val="20000"/>
        </a:spcBef>
        <a:spcAft>
          <a:spcPct val="0"/>
        </a:spcAft>
        <a:buClr>
          <a:schemeClr val="accent3"/>
        </a:buClr>
        <a:buFont typeface="Arial" panose="020B0604020202020204" pitchFamily="34" charset="0"/>
        <a:buChar char="♦"/>
        <a:defRPr sz="2500" b="0" i="0">
          <a:solidFill>
            <a:schemeClr val="tx1"/>
          </a:solidFill>
          <a:latin typeface="+mj-lt"/>
          <a:ea typeface="ヒラギノ角ゴ Pro W3" charset="0"/>
          <a:cs typeface="DIN-Regular"/>
        </a:defRPr>
      </a:lvl1pPr>
      <a:lvl2pPr marL="663315" indent="-255121" algn="l" rtl="0" eaLnBrk="1" fontAlgn="base" hangingPunct="1">
        <a:spcBef>
          <a:spcPct val="20000"/>
        </a:spcBef>
        <a:spcAft>
          <a:spcPct val="0"/>
        </a:spcAft>
        <a:buClr>
          <a:schemeClr val="accent3"/>
        </a:buClr>
        <a:buChar char="•"/>
        <a:defRPr sz="2300" b="0" i="0">
          <a:solidFill>
            <a:schemeClr val="tx1"/>
          </a:solidFill>
          <a:latin typeface="+mj-lt"/>
          <a:ea typeface="ヒラギノ角ゴ Pro W3" charset="0"/>
          <a:cs typeface="DIN-Regular"/>
        </a:defRPr>
      </a:lvl2pPr>
      <a:lvl3pPr marL="1020485" indent="-204097" algn="l" rtl="0" eaLnBrk="1" fontAlgn="base" hangingPunct="1">
        <a:spcBef>
          <a:spcPct val="20000"/>
        </a:spcBef>
        <a:spcAft>
          <a:spcPct val="0"/>
        </a:spcAft>
        <a:buClr>
          <a:schemeClr val="accent3"/>
        </a:buClr>
        <a:buFont typeface="Arial" panose="020B0604020202020204" pitchFamily="34" charset="0"/>
        <a:buChar char="–"/>
        <a:defRPr sz="2100" b="0" i="0">
          <a:solidFill>
            <a:schemeClr val="tx1"/>
          </a:solidFill>
          <a:latin typeface="+mj-lt"/>
          <a:ea typeface="ヒラギノ角ゴ Pro W3" charset="0"/>
          <a:cs typeface="DIN-Regular"/>
        </a:defRPr>
      </a:lvl3pPr>
      <a:lvl4pPr marL="1428679" indent="-204097" algn="l" rtl="0" eaLnBrk="1" fontAlgn="base" hangingPunct="1">
        <a:spcBef>
          <a:spcPct val="20000"/>
        </a:spcBef>
        <a:spcAft>
          <a:spcPct val="0"/>
        </a:spcAft>
        <a:buClr>
          <a:schemeClr val="accent3"/>
        </a:buClr>
        <a:buChar char="•"/>
        <a:defRPr sz="1800" b="0" i="0">
          <a:solidFill>
            <a:schemeClr val="tx1"/>
          </a:solidFill>
          <a:latin typeface="+mj-lt"/>
          <a:ea typeface="ヒラギノ角ゴ Pro W3" charset="0"/>
          <a:cs typeface="DIN-Regular"/>
        </a:defRPr>
      </a:lvl4pPr>
      <a:lvl5pPr marL="1836873" indent="-204097" algn="l" rtl="0" eaLnBrk="1" fontAlgn="base" hangingPunct="1">
        <a:spcBef>
          <a:spcPct val="20000"/>
        </a:spcBef>
        <a:spcAft>
          <a:spcPct val="0"/>
        </a:spcAft>
        <a:buClr>
          <a:schemeClr val="accent3"/>
        </a:buClr>
        <a:buChar char="•"/>
        <a:defRPr b="0" i="0">
          <a:solidFill>
            <a:schemeClr val="tx1"/>
          </a:solidFill>
          <a:latin typeface="+mj-lt"/>
          <a:ea typeface="ヒラギノ角ゴ Pro W3" charset="0"/>
          <a:cs typeface="DIN-Regular"/>
        </a:defRPr>
      </a:lvl5pPr>
      <a:lvl6pPr marL="2245066" indent="-204097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6pPr>
      <a:lvl7pPr marL="2653260" indent="-204097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7pPr>
      <a:lvl8pPr marL="3061454" indent="-204097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8pPr>
      <a:lvl9pPr marL="3469648" indent="-204097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194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388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582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776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969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9163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57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551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81639" tIns="40819" rIns="81639" bIns="4081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</p:spPr>
        <p:txBody>
          <a:bodyPr vert="horz" lIns="81639" tIns="40819" rIns="81639" bIns="408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905620"/>
            <a:ext cx="2133600" cy="160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lvl1pPr>
              <a:defRPr sz="700"/>
            </a:lvl1pPr>
          </a:lstStyle>
          <a:p>
            <a:fld id="{9E765501-A7E5-4DC8-89A3-4BDB0548ABAC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906026"/>
            <a:ext cx="2895600" cy="16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lvl1pPr algn="ctr">
              <a:defRPr sz="700"/>
            </a:lvl1pPr>
          </a:lstStyle>
          <a:p>
            <a:r>
              <a:rPr lang="en-US"/>
              <a:t>Company Confidential  © 2017 Eli Lilly and Company 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906836"/>
            <a:ext cx="2133600" cy="185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fld id="{64C47640-ECEC-E34E-A5C6-81F2A80A83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8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7" r:id="rId2"/>
    <p:sldLayoutId id="2147483679" r:id="rId3"/>
    <p:sldLayoutId id="2147483680" r:id="rId4"/>
    <p:sldLayoutId id="2147483684" r:id="rId5"/>
    <p:sldLayoutId id="2147483685" r:id="rId6"/>
    <p:sldLayoutId id="2147483686" r:id="rId7"/>
  </p:sldLayoutIdLst>
  <p:hf hdr="0"/>
  <p:txStyles>
    <p:titleStyle>
      <a:lvl1pPr algn="l" defTabSz="816388" rtl="0" eaLnBrk="1" latinLnBrk="0" hangingPunct="1">
        <a:spcBef>
          <a:spcPct val="0"/>
        </a:spcBef>
        <a:buNone/>
        <a:defRPr sz="3200" b="1" kern="1200">
          <a:solidFill>
            <a:srgbClr val="D52B1E"/>
          </a:solidFill>
          <a:latin typeface="+mn-lt"/>
          <a:ea typeface="+mj-ea"/>
          <a:cs typeface="+mj-cs"/>
        </a:defRPr>
      </a:lvl1pPr>
    </p:titleStyle>
    <p:bodyStyle>
      <a:lvl1pPr marL="306146" indent="-306146" algn="l" defTabSz="816388" rtl="0" eaLnBrk="1" latinLnBrk="0" hangingPunct="1">
        <a:spcBef>
          <a:spcPct val="20000"/>
        </a:spcBef>
        <a:buClr>
          <a:srgbClr val="D52B1E"/>
        </a:buClr>
        <a:buFont typeface="Arial" panose="020B0604020202020204" pitchFamily="34" charset="0"/>
        <a:buChar char="♦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63315" indent="-255121" algn="l" defTabSz="816388" rtl="0" eaLnBrk="1" latinLnBrk="0" hangingPunct="1">
        <a:spcBef>
          <a:spcPct val="20000"/>
        </a:spcBef>
        <a:buClr>
          <a:srgbClr val="D52B1E"/>
        </a:buClr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020485" indent="-204097" algn="l" defTabSz="816388" rtl="0" eaLnBrk="1" latinLnBrk="0" hangingPunct="1">
        <a:spcBef>
          <a:spcPct val="20000"/>
        </a:spcBef>
        <a:buClr>
          <a:srgbClr val="D52B1E"/>
        </a:buClr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679" indent="-204097" algn="l" defTabSz="816388" rtl="0" eaLnBrk="1" latinLnBrk="0" hangingPunct="1">
        <a:spcBef>
          <a:spcPct val="20000"/>
        </a:spcBef>
        <a:buClr>
          <a:srgbClr val="D52B1E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36873" indent="-204097" algn="l" defTabSz="816388" rtl="0" eaLnBrk="1" latinLnBrk="0" hangingPunct="1">
        <a:spcBef>
          <a:spcPct val="20000"/>
        </a:spcBef>
        <a:buClr>
          <a:srgbClr val="D52B1E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45066" indent="-204097" algn="l" defTabSz="816388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3260" indent="-204097" algn="l" defTabSz="816388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61454" indent="-204097" algn="l" defTabSz="816388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69648" indent="-204097" algn="l" defTabSz="816388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194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388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582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776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969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9163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57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5551" algn="l" defTabSz="816388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trustedminiagents.dev/" TargetMode="Externa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maps?q=41.8,-87.6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maps?q=41.8,-87.6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svg"/><Relationship Id="rId4" Type="http://schemas.openxmlformats.org/officeDocument/2006/relationships/hyperlink" Target="https://www.google.com/maps?q=41.8,-87.6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-dev.github.io/shinychat/r/articles/get-started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trustedminiagents.de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245714"/>
            <a:ext cx="9143999" cy="1081864"/>
          </a:xfrm>
        </p:spPr>
        <p:txBody>
          <a:bodyPr/>
          <a:lstStyle/>
          <a:p>
            <a:br>
              <a:rPr lang="en-US"/>
            </a:br>
            <a:r>
              <a:rPr lang="en-US" b="0"/>
              <a:t>Trusted Mini-Agents:</a:t>
            </a:r>
            <a:br>
              <a:rPr lang="en-US" b="0"/>
            </a:br>
            <a:r>
              <a:rPr lang="en-US" b="0"/>
              <a:t>Leveraging AI Where Correctness Matters</a:t>
            </a:r>
            <a:br>
              <a:rPr lang="en-US"/>
            </a:br>
            <a:r>
              <a:rPr lang="en-US"/>
              <a:t> 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C3D8E6-AD3D-7541-9777-36B710DFFFBC}"/>
              </a:ext>
            </a:extLst>
          </p:cNvPr>
          <p:cNvSpPr txBox="1">
            <a:spLocks/>
          </p:cNvSpPr>
          <p:nvPr/>
        </p:nvSpPr>
        <p:spPr bwMode="auto">
          <a:xfrm>
            <a:off x="1" y="2709660"/>
            <a:ext cx="9143999" cy="1081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1639" tIns="40819" rIns="81639" bIns="40819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i="0">
                <a:solidFill>
                  <a:schemeClr val="bg1"/>
                </a:solidFill>
                <a:latin typeface="+mj-lt"/>
                <a:ea typeface="ヒラギノ角ゴ Pro W3" charset="0"/>
                <a:cs typeface="DIN-Bold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ea typeface="ヒラギノ角ゴ Pro W3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ea typeface="ヒラギノ角ゴ Pro W3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ea typeface="ヒラギノ角ゴ Pro W3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ea typeface="ヒラギノ角ゴ Pro W3" charset="0"/>
              </a:defRPr>
            </a:lvl5pPr>
            <a:lvl6pPr marL="408194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6pPr>
            <a:lvl7pPr marL="816388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7pPr>
            <a:lvl8pPr marL="1224582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8pPr>
            <a:lvl9pPr marL="1632776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sz="2400" kern="0"/>
              <a:t>Will Landau</a:t>
            </a:r>
          </a:p>
        </p:txBody>
      </p:sp>
    </p:spTree>
    <p:extLst>
      <p:ext uri="{BB962C8B-B14F-4D97-AF65-F5344CB8AC3E}">
        <p14:creationId xmlns:p14="http://schemas.microsoft.com/office/powerpoint/2010/main" val="405314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32FB6-D56D-E16D-8ED8-F8E5205E8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" y="180579"/>
            <a:ext cx="9150350" cy="857250"/>
          </a:xfrm>
        </p:spPr>
        <p:txBody>
          <a:bodyPr>
            <a:normAutofit/>
          </a:bodyPr>
          <a:lstStyle/>
          <a:p>
            <a:r>
              <a:rPr lang="en-US"/>
              <a:t>Goal: engineer hallucinations out of AI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F9676-887A-B8D0-5515-B54C4A248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003" y="2207000"/>
            <a:ext cx="7118350" cy="527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Strategy: trusted mini-agents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DAA19-7C35-8ACC-009E-D08C7848348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F61076C-79F6-4F04-9A42-761E8ADA4754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3FEDA-9EBE-2F91-1836-BE56A041A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Copyright © 2026 Eli Lilly and Company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3591B-9D89-9085-4220-F38F00A03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C47640-ECEC-E34E-A5C6-81F2A80A839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2590267-1459-70E5-C071-8629C149A671}"/>
              </a:ext>
            </a:extLst>
          </p:cNvPr>
          <p:cNvSpPr txBox="1">
            <a:spLocks/>
          </p:cNvSpPr>
          <p:nvPr/>
        </p:nvSpPr>
        <p:spPr>
          <a:xfrm>
            <a:off x="196003" y="1177122"/>
            <a:ext cx="7118350" cy="527050"/>
          </a:xfrm>
          <a:prstGeom prst="rect">
            <a:avLst/>
          </a:prstGeom>
        </p:spPr>
        <p:txBody>
          <a:bodyPr vert="horz" lIns="81639" tIns="40819" rIns="81639" bIns="40819" rtlCol="0">
            <a:normAutofit/>
          </a:bodyPr>
          <a:lstStyle>
            <a:lvl1pPr marL="306146" indent="-306146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♦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3315" indent="-255121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0485" indent="-204097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679" indent="-204097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873" indent="-204097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5066" indent="-204097" algn="l" defTabSz="81638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3260" indent="-204097" algn="l" defTabSz="81638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61454" indent="-204097" algn="l" defTabSz="81638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9648" indent="-204097" algn="l" defTabSz="81638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Reason: clinical work needs to be correct.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D538BF-2F61-5E98-B9CE-3B7C672B9302}"/>
              </a:ext>
            </a:extLst>
          </p:cNvPr>
          <p:cNvSpPr txBox="1">
            <a:spLocks/>
          </p:cNvSpPr>
          <p:nvPr/>
        </p:nvSpPr>
        <p:spPr>
          <a:xfrm>
            <a:off x="196003" y="3236878"/>
            <a:ext cx="7118350" cy="527050"/>
          </a:xfrm>
          <a:prstGeom prst="rect">
            <a:avLst/>
          </a:prstGeom>
        </p:spPr>
        <p:txBody>
          <a:bodyPr vert="horz" lIns="81639" tIns="40819" rIns="81639" bIns="40819" rtlCol="0">
            <a:normAutofit/>
          </a:bodyPr>
          <a:lstStyle>
            <a:lvl1pPr marL="306146" indent="-306146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♦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3315" indent="-255121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0485" indent="-204097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679" indent="-204097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873" indent="-204097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5066" indent="-204097" algn="l" defTabSz="81638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3260" indent="-204097" algn="l" defTabSz="81638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61454" indent="-204097" algn="l" defTabSz="81638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9648" indent="-204097" algn="l" defTabSz="81638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Example: clinical trial simulation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0A00B80-1DEA-7506-4116-3EBF222010FB}"/>
              </a:ext>
            </a:extLst>
          </p:cNvPr>
          <p:cNvSpPr txBox="1">
            <a:spLocks/>
          </p:cNvSpPr>
          <p:nvPr/>
        </p:nvSpPr>
        <p:spPr>
          <a:xfrm>
            <a:off x="196003" y="4240493"/>
            <a:ext cx="7118350" cy="527050"/>
          </a:xfrm>
          <a:prstGeom prst="rect">
            <a:avLst/>
          </a:prstGeom>
        </p:spPr>
        <p:txBody>
          <a:bodyPr vert="horz" lIns="81639" tIns="40819" rIns="81639" bIns="40819" rtlCol="0">
            <a:normAutofit/>
          </a:bodyPr>
          <a:lstStyle>
            <a:lvl1pPr marL="306146" indent="-306146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♦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3315" indent="-255121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0485" indent="-204097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679" indent="-204097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873" indent="-204097" algn="l" defTabSz="816388" rtl="0" eaLnBrk="1" latinLnBrk="0" hangingPunct="1">
              <a:spcBef>
                <a:spcPct val="20000"/>
              </a:spcBef>
              <a:buClr>
                <a:srgbClr val="D52B1E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5066" indent="-204097" algn="l" defTabSz="81638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3260" indent="-204097" algn="l" defTabSz="81638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61454" indent="-204097" algn="l" defTabSz="81638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9648" indent="-204097" algn="l" defTabSz="816388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Documentation: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trustedminiagents.dev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109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AD460-1A6D-916D-C075-76C6CE709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B52B-BD95-6A42-07C5-A6C06660E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78000"/>
            <a:ext cx="9143999" cy="1003300"/>
          </a:xfrm>
        </p:spPr>
        <p:txBody>
          <a:bodyPr/>
          <a:lstStyle/>
          <a:p>
            <a:r>
              <a:rPr lang="en-US"/>
              <a:t>Parts of an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27F02F-CC2A-01AF-3074-F28C3213F3C0}"/>
              </a:ext>
            </a:extLst>
          </p:cNvPr>
          <p:cNvSpPr/>
          <p:nvPr/>
        </p:nvSpPr>
        <p:spPr>
          <a:xfrm>
            <a:off x="6309360" y="3742509"/>
            <a:ext cx="2664823" cy="1345474"/>
          </a:xfrm>
          <a:prstGeom prst="rect">
            <a:avLst/>
          </a:prstGeom>
          <a:solidFill>
            <a:srgbClr val="D52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06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C4C20-69D1-64BE-9CEB-77409152F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A59C2B-D258-6EEF-EB73-8DC7025A06F5}"/>
              </a:ext>
            </a:extLst>
          </p:cNvPr>
          <p:cNvSpPr txBox="1"/>
          <p:nvPr/>
        </p:nvSpPr>
        <p:spPr>
          <a:xfrm>
            <a:off x="208257" y="775038"/>
            <a:ext cx="2049341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 b="1">
                <a:solidFill>
                  <a:srgbClr val="463C8C"/>
                </a:solidFill>
                <a:latin typeface="Calibri"/>
              </a:rPr>
              <a:t>MODEL</a:t>
            </a:r>
            <a:endParaRPr sz="2800" b="1">
              <a:solidFill>
                <a:srgbClr val="463C8C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D57755-CC44-63EE-59CB-3ECF9928AB86}"/>
              </a:ext>
            </a:extLst>
          </p:cNvPr>
          <p:cNvSpPr txBox="1"/>
          <p:nvPr/>
        </p:nvSpPr>
        <p:spPr>
          <a:xfrm>
            <a:off x="2442764" y="762426"/>
            <a:ext cx="639491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 b="1">
                <a:solidFill>
                  <a:srgbClr val="666666"/>
                </a:solidFill>
                <a:latin typeface="Calibri"/>
              </a:rPr>
              <a:t>HARNESS</a:t>
            </a:r>
            <a:endParaRPr sz="2800" b="1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895A28-2416-4725-73AC-9167198C950F}"/>
              </a:ext>
            </a:extLst>
          </p:cNvPr>
          <p:cNvSpPr/>
          <p:nvPr/>
        </p:nvSpPr>
        <p:spPr>
          <a:xfrm flipV="1">
            <a:off x="208256" y="1184755"/>
            <a:ext cx="2049340" cy="67378"/>
          </a:xfrm>
          <a:prstGeom prst="rect">
            <a:avLst/>
          </a:prstGeom>
          <a:solidFill>
            <a:srgbClr val="46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E6955E-D5E2-26D5-7E99-4B2930CA8F0F}"/>
              </a:ext>
            </a:extLst>
          </p:cNvPr>
          <p:cNvSpPr/>
          <p:nvPr/>
        </p:nvSpPr>
        <p:spPr>
          <a:xfrm>
            <a:off x="2442764" y="1181285"/>
            <a:ext cx="6492979" cy="70848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6B95A7C-062A-F35A-06F6-74F691C91206}"/>
              </a:ext>
            </a:extLst>
          </p:cNvPr>
          <p:cNvSpPr/>
          <p:nvPr/>
        </p:nvSpPr>
        <p:spPr>
          <a:xfrm>
            <a:off x="208257" y="1331174"/>
            <a:ext cx="2049341" cy="3600450"/>
          </a:xfrm>
          <a:prstGeom prst="roundRect">
            <a:avLst>
              <a:gd name="adj" fmla="val 6000"/>
            </a:avLst>
          </a:prstGeom>
          <a:solidFill>
            <a:srgbClr val="46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FBEC5-5165-1E2F-3DDF-211FBC56D333}"/>
              </a:ext>
            </a:extLst>
          </p:cNvPr>
          <p:cNvSpPr txBox="1"/>
          <p:nvPr/>
        </p:nvSpPr>
        <p:spPr>
          <a:xfrm>
            <a:off x="208257" y="1454618"/>
            <a:ext cx="2049341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75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BC4355-5CDD-2E8C-3BD4-D83DA157EB0C}"/>
              </a:ext>
            </a:extLst>
          </p:cNvPr>
          <p:cNvSpPr txBox="1"/>
          <p:nvPr/>
        </p:nvSpPr>
        <p:spPr>
          <a:xfrm>
            <a:off x="208257" y="1756371"/>
            <a:ext cx="2049341" cy="144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38" b="1">
                <a:solidFill>
                  <a:srgbClr val="CFCAEC"/>
                </a:solidFill>
                <a:latin typeface="Calibri"/>
              </a:rPr>
              <a:t>Simply predicts text.</a:t>
            </a:r>
            <a:endParaRPr sz="938" b="1">
              <a:solidFill>
                <a:srgbClr val="CFCAEC"/>
              </a:solidFill>
              <a:latin typeface="Calibri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5A88FC1-82F6-6E4E-33A3-38E613266F4C}"/>
              </a:ext>
            </a:extLst>
          </p:cNvPr>
          <p:cNvSpPr/>
          <p:nvPr/>
        </p:nvSpPr>
        <p:spPr>
          <a:xfrm>
            <a:off x="350512" y="2294160"/>
            <a:ext cx="1706369" cy="284816"/>
          </a:xfrm>
          <a:prstGeom prst="roundRect">
            <a:avLst>
              <a:gd name="adj" fmla="val 10000"/>
            </a:avLst>
          </a:prstGeom>
          <a:solidFill>
            <a:srgbClr val="B7A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453C8C"/>
                </a:solidFill>
              </a:rPr>
              <a:t>”The quick brown fox”</a:t>
            </a:r>
            <a:endParaRPr sz="1100">
              <a:solidFill>
                <a:srgbClr val="453C8C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257BED-EDB2-F1A0-C166-2F2C202A13B8}"/>
              </a:ext>
            </a:extLst>
          </p:cNvPr>
          <p:cNvSpPr txBox="1"/>
          <p:nvPr/>
        </p:nvSpPr>
        <p:spPr>
          <a:xfrm>
            <a:off x="482577" y="4223150"/>
            <a:ext cx="433939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>
                <a:solidFill>
                  <a:srgbClr val="453C8C"/>
                </a:solidFill>
                <a:latin typeface="Calibri"/>
              </a:rPr>
              <a:t>Prompt</a:t>
            </a:r>
            <a:endParaRPr sz="900">
              <a:solidFill>
                <a:srgbClr val="453C8C"/>
              </a:solidFill>
              <a:latin typeface="Calibri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FAEAEA5-CCC6-E21D-A2B2-E7AB0EB0E163}"/>
              </a:ext>
            </a:extLst>
          </p:cNvPr>
          <p:cNvSpPr/>
          <p:nvPr/>
        </p:nvSpPr>
        <p:spPr>
          <a:xfrm>
            <a:off x="6878359" y="1338487"/>
            <a:ext cx="2049341" cy="3600450"/>
          </a:xfrm>
          <a:prstGeom prst="roundRect">
            <a:avLst>
              <a:gd name="adj" fmla="val 6000"/>
            </a:avLst>
          </a:prstGeom>
          <a:solidFill>
            <a:srgbClr val="155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65D8D0-7FA3-BB6C-B214-6353BF5E5F47}"/>
              </a:ext>
            </a:extLst>
          </p:cNvPr>
          <p:cNvSpPr txBox="1"/>
          <p:nvPr/>
        </p:nvSpPr>
        <p:spPr>
          <a:xfrm>
            <a:off x="6878359" y="1461931"/>
            <a:ext cx="2049341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75" b="1">
                <a:solidFill>
                  <a:srgbClr val="FFFFFF"/>
                </a:solidFill>
                <a:latin typeface="Calibri"/>
              </a:rPr>
              <a:t>Agent loop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CE1E84-7D1E-6B5D-4801-2C00123E941A}"/>
              </a:ext>
            </a:extLst>
          </p:cNvPr>
          <p:cNvSpPr txBox="1"/>
          <p:nvPr/>
        </p:nvSpPr>
        <p:spPr>
          <a:xfrm>
            <a:off x="6868061" y="1801528"/>
            <a:ext cx="2049341" cy="144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38" b="1">
                <a:solidFill>
                  <a:srgbClr val="C6DBEC"/>
                </a:solidFill>
                <a:latin typeface="Calibri"/>
              </a:rPr>
              <a:t>Loop between the LLM and tools.</a:t>
            </a:r>
            <a:endParaRPr sz="938" b="1">
              <a:solidFill>
                <a:srgbClr val="C6DBEC"/>
              </a:solidFill>
              <a:latin typeface="Calibri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BBB193B-D697-7845-6FD4-6782F2D505C3}"/>
              </a:ext>
            </a:extLst>
          </p:cNvPr>
          <p:cNvSpPr/>
          <p:nvPr/>
        </p:nvSpPr>
        <p:spPr>
          <a:xfrm>
            <a:off x="7022860" y="2250545"/>
            <a:ext cx="1747589" cy="534924"/>
          </a:xfrm>
          <a:prstGeom prst="roundRect">
            <a:avLst>
              <a:gd name="adj" fmla="val 16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10A8540-A01A-6B8F-3E55-17B459CA5895}"/>
              </a:ext>
            </a:extLst>
          </p:cNvPr>
          <p:cNvSpPr/>
          <p:nvPr/>
        </p:nvSpPr>
        <p:spPr>
          <a:xfrm>
            <a:off x="7118872" y="2404850"/>
            <a:ext cx="226314" cy="226314"/>
          </a:xfrm>
          <a:prstGeom prst="ellipse">
            <a:avLst/>
          </a:prstGeom>
          <a:solidFill>
            <a:srgbClr val="155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1138FA-D7D5-9A99-185C-A33EC8F1D633}"/>
              </a:ext>
            </a:extLst>
          </p:cNvPr>
          <p:cNvSpPr txBox="1"/>
          <p:nvPr/>
        </p:nvSpPr>
        <p:spPr>
          <a:xfrm>
            <a:off x="7118872" y="2436129"/>
            <a:ext cx="226314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BEA591-BF75-A8CF-CDDF-86A5FAF90728}"/>
              </a:ext>
            </a:extLst>
          </p:cNvPr>
          <p:cNvSpPr txBox="1"/>
          <p:nvPr/>
        </p:nvSpPr>
        <p:spPr>
          <a:xfrm>
            <a:off x="7434340" y="2319125"/>
            <a:ext cx="1294961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75" b="1">
                <a:solidFill>
                  <a:srgbClr val="103A5C"/>
                </a:solidFill>
                <a:latin typeface="Calibri"/>
              </a:rPr>
              <a:t>Gather</a:t>
            </a:r>
            <a:r>
              <a:rPr sz="975" b="1">
                <a:solidFill>
                  <a:srgbClr val="103A5C"/>
                </a:solidFill>
                <a:latin typeface="Calibri"/>
              </a:rPr>
              <a:t> context</a:t>
            </a:r>
            <a:r>
              <a:rPr lang="en-US" sz="975" b="1">
                <a:solidFill>
                  <a:srgbClr val="103A5C"/>
                </a:solidFill>
                <a:latin typeface="Calibri"/>
              </a:rPr>
              <a:t>.</a:t>
            </a:r>
            <a:endParaRPr sz="975" b="1">
              <a:solidFill>
                <a:srgbClr val="103A5C"/>
              </a:solidFill>
              <a:latin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F2C37E-B15F-8718-4E5E-BA2B0A59A0F1}"/>
              </a:ext>
            </a:extLst>
          </p:cNvPr>
          <p:cNvSpPr txBox="1"/>
          <p:nvPr/>
        </p:nvSpPr>
        <p:spPr>
          <a:xfrm>
            <a:off x="7434340" y="2524865"/>
            <a:ext cx="1294961" cy="121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8">
                <a:solidFill>
                  <a:srgbClr val="335570"/>
                </a:solidFill>
                <a:latin typeface="Calibri"/>
              </a:rPr>
              <a:t>history + system prompt + tools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0D6B21D-F592-B1E5-EF64-32E8F215C0DA}"/>
              </a:ext>
            </a:extLst>
          </p:cNvPr>
          <p:cNvSpPr/>
          <p:nvPr/>
        </p:nvSpPr>
        <p:spPr>
          <a:xfrm>
            <a:off x="7022860" y="2878052"/>
            <a:ext cx="1747589" cy="534924"/>
          </a:xfrm>
          <a:prstGeom prst="roundRect">
            <a:avLst>
              <a:gd name="adj" fmla="val 16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601A302-D726-F688-6396-1EB4E85D9E62}"/>
              </a:ext>
            </a:extLst>
          </p:cNvPr>
          <p:cNvSpPr/>
          <p:nvPr/>
        </p:nvSpPr>
        <p:spPr>
          <a:xfrm>
            <a:off x="7118872" y="3032357"/>
            <a:ext cx="226314" cy="226314"/>
          </a:xfrm>
          <a:prstGeom prst="ellipse">
            <a:avLst/>
          </a:prstGeom>
          <a:solidFill>
            <a:srgbClr val="155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35B2A4-7F89-2713-D1D3-A191384C35D2}"/>
              </a:ext>
            </a:extLst>
          </p:cNvPr>
          <p:cNvSpPr txBox="1"/>
          <p:nvPr/>
        </p:nvSpPr>
        <p:spPr>
          <a:xfrm>
            <a:off x="7118872" y="3063636"/>
            <a:ext cx="226314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BDFB12-9EBD-7B1E-AE46-71CF0A4ED85B}"/>
              </a:ext>
            </a:extLst>
          </p:cNvPr>
          <p:cNvSpPr txBox="1"/>
          <p:nvPr/>
        </p:nvSpPr>
        <p:spPr>
          <a:xfrm>
            <a:off x="7434340" y="2946632"/>
            <a:ext cx="1294961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75" b="1" dirty="0">
                <a:solidFill>
                  <a:srgbClr val="103A5C"/>
                </a:solidFill>
                <a:latin typeface="Calibri"/>
              </a:rPr>
              <a:t>Take action.</a:t>
            </a:r>
            <a:endParaRPr sz="975" b="1" dirty="0">
              <a:solidFill>
                <a:srgbClr val="103A5C"/>
              </a:solidFill>
              <a:latin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8473CA-F359-43AF-DDE2-3039BDDB2CD8}"/>
              </a:ext>
            </a:extLst>
          </p:cNvPr>
          <p:cNvSpPr txBox="1"/>
          <p:nvPr/>
        </p:nvSpPr>
        <p:spPr>
          <a:xfrm>
            <a:off x="7434340" y="3152372"/>
            <a:ext cx="1294961" cy="121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788">
                <a:solidFill>
                  <a:srgbClr val="335570"/>
                </a:solidFill>
                <a:latin typeface="Calibri"/>
              </a:rPr>
              <a:t>Maybe call a tool.</a:t>
            </a:r>
            <a:endParaRPr sz="788">
              <a:solidFill>
                <a:srgbClr val="335570"/>
              </a:solidFill>
              <a:latin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B6E6625-DC0E-7543-8929-9773F42B0194}"/>
              </a:ext>
            </a:extLst>
          </p:cNvPr>
          <p:cNvSpPr/>
          <p:nvPr/>
        </p:nvSpPr>
        <p:spPr>
          <a:xfrm>
            <a:off x="7022860" y="3505559"/>
            <a:ext cx="1747589" cy="534924"/>
          </a:xfrm>
          <a:prstGeom prst="roundRect">
            <a:avLst>
              <a:gd name="adj" fmla="val 16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7800BF4-39A1-58B3-0F7F-EE5B88777887}"/>
              </a:ext>
            </a:extLst>
          </p:cNvPr>
          <p:cNvSpPr/>
          <p:nvPr/>
        </p:nvSpPr>
        <p:spPr>
          <a:xfrm>
            <a:off x="7118872" y="3659864"/>
            <a:ext cx="226314" cy="226314"/>
          </a:xfrm>
          <a:prstGeom prst="ellipse">
            <a:avLst/>
          </a:prstGeom>
          <a:solidFill>
            <a:srgbClr val="155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198B65-A0A8-772A-275B-4ADC5C30A80D}"/>
              </a:ext>
            </a:extLst>
          </p:cNvPr>
          <p:cNvSpPr txBox="1"/>
          <p:nvPr/>
        </p:nvSpPr>
        <p:spPr>
          <a:xfrm>
            <a:off x="7118872" y="3691143"/>
            <a:ext cx="226314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800485-F5C3-55ED-D2E6-9A5CD6EA2603}"/>
              </a:ext>
            </a:extLst>
          </p:cNvPr>
          <p:cNvSpPr txBox="1"/>
          <p:nvPr/>
        </p:nvSpPr>
        <p:spPr>
          <a:xfrm>
            <a:off x="7434340" y="3574139"/>
            <a:ext cx="1294961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75" b="1">
                <a:solidFill>
                  <a:srgbClr val="103A5C"/>
                </a:solidFill>
                <a:latin typeface="Calibri"/>
              </a:rPr>
              <a:t>Verify results.</a:t>
            </a:r>
            <a:endParaRPr sz="975" b="1">
              <a:solidFill>
                <a:srgbClr val="103A5C"/>
              </a:solidFill>
              <a:latin typeface="Calibri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4A9A12-40D8-F83F-22FC-EB2794103D54}"/>
              </a:ext>
            </a:extLst>
          </p:cNvPr>
          <p:cNvSpPr txBox="1"/>
          <p:nvPr/>
        </p:nvSpPr>
        <p:spPr>
          <a:xfrm>
            <a:off x="7434340" y="3779879"/>
            <a:ext cx="1294961" cy="121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788">
                <a:solidFill>
                  <a:srgbClr val="335570"/>
                </a:solidFill>
                <a:latin typeface="Calibri"/>
              </a:rPr>
              <a:t>Prompt the LLM for a decision.</a:t>
            </a:r>
            <a:endParaRPr sz="788">
              <a:solidFill>
                <a:srgbClr val="335570"/>
              </a:solidFill>
              <a:latin typeface="Calibri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543177A-68C2-F7B4-FD01-9E5925CA3A3E}"/>
              </a:ext>
            </a:extLst>
          </p:cNvPr>
          <p:cNvSpPr/>
          <p:nvPr/>
        </p:nvSpPr>
        <p:spPr>
          <a:xfrm>
            <a:off x="7022860" y="4133066"/>
            <a:ext cx="1747589" cy="534924"/>
          </a:xfrm>
          <a:prstGeom prst="roundRect">
            <a:avLst>
              <a:gd name="adj" fmla="val 16000"/>
            </a:avLst>
          </a:prstGeom>
          <a:solidFill>
            <a:srgbClr val="DD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6128814-5138-691D-8B62-C75932A006B4}"/>
              </a:ext>
            </a:extLst>
          </p:cNvPr>
          <p:cNvSpPr/>
          <p:nvPr/>
        </p:nvSpPr>
        <p:spPr>
          <a:xfrm>
            <a:off x="7118872" y="4287371"/>
            <a:ext cx="226314" cy="226314"/>
          </a:xfrm>
          <a:prstGeom prst="ellipse">
            <a:avLst/>
          </a:prstGeom>
          <a:solidFill>
            <a:srgbClr val="155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9B989B-CDF8-2848-0163-674C8AD36CE1}"/>
              </a:ext>
            </a:extLst>
          </p:cNvPr>
          <p:cNvSpPr txBox="1"/>
          <p:nvPr/>
        </p:nvSpPr>
        <p:spPr>
          <a:xfrm>
            <a:off x="7118872" y="4318650"/>
            <a:ext cx="226314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EE077A-232A-C9BB-45C1-3641E1CA582F}"/>
              </a:ext>
            </a:extLst>
          </p:cNvPr>
          <p:cNvSpPr txBox="1"/>
          <p:nvPr/>
        </p:nvSpPr>
        <p:spPr>
          <a:xfrm>
            <a:off x="7434340" y="4201646"/>
            <a:ext cx="1294961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75" b="1">
                <a:solidFill>
                  <a:srgbClr val="103A5C"/>
                </a:solidFill>
                <a:latin typeface="Calibri"/>
              </a:rPr>
              <a:t>Repeat until done.</a:t>
            </a:r>
            <a:endParaRPr sz="975" b="1">
              <a:solidFill>
                <a:srgbClr val="103A5C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13BD00-3881-E1C3-9AD8-E9C0F58AAA11}"/>
              </a:ext>
            </a:extLst>
          </p:cNvPr>
          <p:cNvSpPr txBox="1"/>
          <p:nvPr/>
        </p:nvSpPr>
        <p:spPr>
          <a:xfrm>
            <a:off x="7434340" y="4407386"/>
            <a:ext cx="1294961" cy="121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788">
                <a:solidFill>
                  <a:srgbClr val="335570"/>
                </a:solidFill>
                <a:latin typeface="Calibri"/>
              </a:rPr>
              <a:t>F</a:t>
            </a:r>
            <a:r>
              <a:rPr sz="788">
                <a:solidFill>
                  <a:srgbClr val="335570"/>
                </a:solidFill>
                <a:latin typeface="Calibri"/>
              </a:rPr>
              <a:t>eed output back into context</a:t>
            </a:r>
            <a:r>
              <a:rPr lang="en-US" sz="788">
                <a:solidFill>
                  <a:srgbClr val="335570"/>
                </a:solidFill>
                <a:latin typeface="Calibri"/>
              </a:rPr>
              <a:t>.</a:t>
            </a:r>
            <a:endParaRPr sz="788">
              <a:solidFill>
                <a:srgbClr val="335570"/>
              </a:solidFill>
              <a:latin typeface="Calibri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63D81344-0BFC-CE33-3351-5AF7949A0702}"/>
              </a:ext>
            </a:extLst>
          </p:cNvPr>
          <p:cNvSpPr/>
          <p:nvPr/>
        </p:nvSpPr>
        <p:spPr>
          <a:xfrm>
            <a:off x="4660608" y="1335363"/>
            <a:ext cx="2049341" cy="3600450"/>
          </a:xfrm>
          <a:prstGeom prst="roundRect">
            <a:avLst>
              <a:gd name="adj" fmla="val 6000"/>
            </a:avLst>
          </a:prstGeom>
          <a:solidFill>
            <a:srgbClr val="7C2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7CFBA69-450D-C8D1-1BD8-A4FEC76BCF64}"/>
              </a:ext>
            </a:extLst>
          </p:cNvPr>
          <p:cNvSpPr txBox="1"/>
          <p:nvPr/>
        </p:nvSpPr>
        <p:spPr>
          <a:xfrm>
            <a:off x="4660608" y="1458807"/>
            <a:ext cx="2049341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75" b="1">
                <a:solidFill>
                  <a:srgbClr val="FFFFFF"/>
                </a:solidFill>
                <a:latin typeface="Calibri"/>
              </a:rPr>
              <a:t>Registered tools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620C51-69D8-5B9B-D955-81983021FE45}"/>
              </a:ext>
            </a:extLst>
          </p:cNvPr>
          <p:cNvSpPr txBox="1"/>
          <p:nvPr/>
        </p:nvSpPr>
        <p:spPr>
          <a:xfrm>
            <a:off x="4803106" y="1757985"/>
            <a:ext cx="1747589" cy="2886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38" b="1">
                <a:solidFill>
                  <a:srgbClr val="E8C3B8"/>
                </a:solidFill>
                <a:latin typeface="Calibri"/>
              </a:rPr>
              <a:t>How the agent perceives the world and acts on it.</a:t>
            </a:r>
            <a:endParaRPr sz="938" b="1">
              <a:solidFill>
                <a:srgbClr val="E8C3B8"/>
              </a:solidFill>
              <a:latin typeface="Calibri"/>
            </a:endParaRP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590DF42E-3D8C-839D-6919-95E18E7698C3}"/>
              </a:ext>
            </a:extLst>
          </p:cNvPr>
          <p:cNvSpPr/>
          <p:nvPr/>
        </p:nvSpPr>
        <p:spPr>
          <a:xfrm>
            <a:off x="4803106" y="2257105"/>
            <a:ext cx="1747589" cy="329184"/>
          </a:xfrm>
          <a:prstGeom prst="roundRect">
            <a:avLst>
              <a:gd name="adj" fmla="val 14000"/>
            </a:avLst>
          </a:prstGeom>
          <a:solidFill>
            <a:srgbClr val="F7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92B0354-36F1-D1FD-079D-07B2E1BEDED0}"/>
              </a:ext>
            </a:extLst>
          </p:cNvPr>
          <p:cNvSpPr txBox="1"/>
          <p:nvPr/>
        </p:nvSpPr>
        <p:spPr>
          <a:xfrm>
            <a:off x="4940266" y="2343759"/>
            <a:ext cx="1624145" cy="155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3" b="1">
                <a:solidFill>
                  <a:srgbClr val="7C2E1D"/>
                </a:solidFill>
                <a:latin typeface="Courier New"/>
              </a:rPr>
              <a:t>web_search()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ACCA259D-6482-C199-5408-B7B94139A330}"/>
              </a:ext>
            </a:extLst>
          </p:cNvPr>
          <p:cNvSpPr/>
          <p:nvPr/>
        </p:nvSpPr>
        <p:spPr>
          <a:xfrm>
            <a:off x="4803106" y="2665156"/>
            <a:ext cx="1747589" cy="329184"/>
          </a:xfrm>
          <a:prstGeom prst="roundRect">
            <a:avLst>
              <a:gd name="adj" fmla="val 14000"/>
            </a:avLst>
          </a:prstGeom>
          <a:solidFill>
            <a:srgbClr val="F7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43788B3-DEBE-2178-6112-438C7E13FDB9}"/>
              </a:ext>
            </a:extLst>
          </p:cNvPr>
          <p:cNvSpPr txBox="1"/>
          <p:nvPr/>
        </p:nvSpPr>
        <p:spPr>
          <a:xfrm>
            <a:off x="4940266" y="2751810"/>
            <a:ext cx="1624145" cy="155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3" b="1">
                <a:solidFill>
                  <a:srgbClr val="7C2E1D"/>
                </a:solidFill>
                <a:latin typeface="Courier New"/>
              </a:rPr>
              <a:t>read_file()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A2AFEE1F-9AC9-187D-5E73-086BB2BCDC9C}"/>
              </a:ext>
            </a:extLst>
          </p:cNvPr>
          <p:cNvSpPr/>
          <p:nvPr/>
        </p:nvSpPr>
        <p:spPr>
          <a:xfrm>
            <a:off x="4803106" y="3073207"/>
            <a:ext cx="1747589" cy="329184"/>
          </a:xfrm>
          <a:prstGeom prst="roundRect">
            <a:avLst>
              <a:gd name="adj" fmla="val 14000"/>
            </a:avLst>
          </a:prstGeom>
          <a:solidFill>
            <a:srgbClr val="F7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24C9F80-EC53-B2CF-5D0F-93AB8CFF62A1}"/>
              </a:ext>
            </a:extLst>
          </p:cNvPr>
          <p:cNvSpPr txBox="1"/>
          <p:nvPr/>
        </p:nvSpPr>
        <p:spPr>
          <a:xfrm>
            <a:off x="4940266" y="3159861"/>
            <a:ext cx="1624145" cy="155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3" b="1">
                <a:solidFill>
                  <a:srgbClr val="7C2E1D"/>
                </a:solidFill>
                <a:latin typeface="Courier New"/>
              </a:rPr>
              <a:t>run_code()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F81F607-45F5-1D27-B644-FC035B20D8BE}"/>
              </a:ext>
            </a:extLst>
          </p:cNvPr>
          <p:cNvSpPr/>
          <p:nvPr/>
        </p:nvSpPr>
        <p:spPr>
          <a:xfrm>
            <a:off x="4803106" y="3481258"/>
            <a:ext cx="1747589" cy="329184"/>
          </a:xfrm>
          <a:prstGeom prst="roundRect">
            <a:avLst>
              <a:gd name="adj" fmla="val 14000"/>
            </a:avLst>
          </a:prstGeom>
          <a:solidFill>
            <a:srgbClr val="F7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AE3073D-73C2-532C-6459-8BF953662E18}"/>
              </a:ext>
            </a:extLst>
          </p:cNvPr>
          <p:cNvSpPr txBox="1"/>
          <p:nvPr/>
        </p:nvSpPr>
        <p:spPr>
          <a:xfrm>
            <a:off x="4940266" y="3567912"/>
            <a:ext cx="1624145" cy="155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3" b="1">
                <a:solidFill>
                  <a:srgbClr val="7C2E1D"/>
                </a:solidFill>
                <a:latin typeface="Courier New"/>
              </a:rPr>
              <a:t>query_d</a:t>
            </a:r>
            <a:r>
              <a:rPr lang="en-US" sz="1013" b="1">
                <a:solidFill>
                  <a:srgbClr val="7C2E1D"/>
                </a:solidFill>
                <a:latin typeface="Courier New"/>
              </a:rPr>
              <a:t>atabase</a:t>
            </a:r>
            <a:r>
              <a:rPr sz="1013" b="1">
                <a:solidFill>
                  <a:srgbClr val="7C2E1D"/>
                </a:solidFill>
                <a:latin typeface="Courier New"/>
              </a:rPr>
              <a:t>()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F78E1E87-A5BC-4929-3734-59056479DE5F}"/>
              </a:ext>
            </a:extLst>
          </p:cNvPr>
          <p:cNvSpPr/>
          <p:nvPr/>
        </p:nvSpPr>
        <p:spPr>
          <a:xfrm>
            <a:off x="4803106" y="3889309"/>
            <a:ext cx="1747589" cy="329184"/>
          </a:xfrm>
          <a:prstGeom prst="roundRect">
            <a:avLst>
              <a:gd name="adj" fmla="val 14000"/>
            </a:avLst>
          </a:prstGeom>
          <a:solidFill>
            <a:srgbClr val="F7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F4E90D7-713E-DA4F-E706-240714B402B2}"/>
              </a:ext>
            </a:extLst>
          </p:cNvPr>
          <p:cNvSpPr txBox="1"/>
          <p:nvPr/>
        </p:nvSpPr>
        <p:spPr>
          <a:xfrm>
            <a:off x="4940266" y="3975963"/>
            <a:ext cx="1624145" cy="155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3" b="1">
                <a:solidFill>
                  <a:srgbClr val="7C2E1D"/>
                </a:solidFill>
                <a:latin typeface="Courier New"/>
              </a:rPr>
              <a:t>send_email()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88718D7D-646A-B906-04F1-237D44EFE94D}"/>
              </a:ext>
            </a:extLst>
          </p:cNvPr>
          <p:cNvSpPr/>
          <p:nvPr/>
        </p:nvSpPr>
        <p:spPr>
          <a:xfrm>
            <a:off x="4803106" y="4297360"/>
            <a:ext cx="1747589" cy="329184"/>
          </a:xfrm>
          <a:prstGeom prst="roundRect">
            <a:avLst>
              <a:gd name="adj" fmla="val 14000"/>
            </a:avLst>
          </a:prstGeom>
          <a:solidFill>
            <a:srgbClr val="F7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264ED2-939A-5A98-56B2-6A567D0551FA}"/>
              </a:ext>
            </a:extLst>
          </p:cNvPr>
          <p:cNvSpPr txBox="1"/>
          <p:nvPr/>
        </p:nvSpPr>
        <p:spPr>
          <a:xfrm>
            <a:off x="4940266" y="4384014"/>
            <a:ext cx="1624145" cy="1558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3" b="1">
                <a:solidFill>
                  <a:srgbClr val="7C2E1D"/>
                </a:solidFill>
                <a:latin typeface="Courier New"/>
              </a:rPr>
              <a:t>edit_doc</a:t>
            </a:r>
            <a:r>
              <a:rPr lang="en-US" sz="1013" b="1">
                <a:solidFill>
                  <a:srgbClr val="7C2E1D"/>
                </a:solidFill>
                <a:latin typeface="Courier New"/>
              </a:rPr>
              <a:t>ument</a:t>
            </a:r>
            <a:r>
              <a:rPr sz="1013" b="1">
                <a:solidFill>
                  <a:srgbClr val="7C2E1D"/>
                </a:solidFill>
                <a:latin typeface="Courier New"/>
              </a:rPr>
              <a:t>()</a:t>
            </a:r>
          </a:p>
        </p:txBody>
      </p:sp>
      <p:sp>
        <p:nvSpPr>
          <p:cNvPr id="98" name="Title 1">
            <a:extLst>
              <a:ext uri="{FF2B5EF4-FFF2-40B4-BE49-F238E27FC236}">
                <a16:creationId xmlns:a16="http://schemas.microsoft.com/office/drawing/2014/main" id="{34205421-890F-6F7E-80E1-70D92D5EFC3B}"/>
              </a:ext>
            </a:extLst>
          </p:cNvPr>
          <p:cNvSpPr txBox="1">
            <a:spLocks/>
          </p:cNvSpPr>
          <p:nvPr/>
        </p:nvSpPr>
        <p:spPr>
          <a:xfrm>
            <a:off x="208256" y="75686"/>
            <a:ext cx="6134100" cy="426720"/>
          </a:xfrm>
          <a:prstGeom prst="rect">
            <a:avLst/>
          </a:prstGeom>
        </p:spPr>
        <p:txBody>
          <a:bodyPr>
            <a:noAutofit/>
          </a:bodyPr>
          <a:lstStyle>
            <a:lvl1pPr algn="l" defTabSz="816388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D52B1E"/>
                </a:solidFill>
                <a:latin typeface="+mn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/>
              <a:t>Agent = model + harness</a:t>
            </a:r>
          </a:p>
        </p:txBody>
      </p:sp>
      <p:sp>
        <p:nvSpPr>
          <p:cNvPr id="110" name="Down Arrow 109">
            <a:extLst>
              <a:ext uri="{FF2B5EF4-FFF2-40B4-BE49-F238E27FC236}">
                <a16:creationId xmlns:a16="http://schemas.microsoft.com/office/drawing/2014/main" id="{ECBC44CF-9F8A-90A0-CC27-DE857B899ACF}"/>
              </a:ext>
            </a:extLst>
          </p:cNvPr>
          <p:cNvSpPr/>
          <p:nvPr/>
        </p:nvSpPr>
        <p:spPr>
          <a:xfrm>
            <a:off x="373356" y="2773829"/>
            <a:ext cx="1628406" cy="1354251"/>
          </a:xfrm>
          <a:prstGeom prst="downArrow">
            <a:avLst/>
          </a:prstGeom>
          <a:solidFill>
            <a:srgbClr val="B7AE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D1A38-090A-BCBA-618D-EE09DE627045}"/>
              </a:ext>
            </a:extLst>
          </p:cNvPr>
          <p:cNvSpPr/>
          <p:nvPr/>
        </p:nvSpPr>
        <p:spPr>
          <a:xfrm>
            <a:off x="873704" y="2940146"/>
            <a:ext cx="109728" cy="109728"/>
          </a:xfrm>
          <a:prstGeom prst="ellipse">
            <a:avLst/>
          </a:prstGeom>
          <a:solidFill>
            <a:srgbClr val="45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4F01D15-EFC1-880A-6916-C16F1576552E}"/>
              </a:ext>
            </a:extLst>
          </p:cNvPr>
          <p:cNvSpPr/>
          <p:nvPr/>
        </p:nvSpPr>
        <p:spPr>
          <a:xfrm>
            <a:off x="872095" y="3306384"/>
            <a:ext cx="109728" cy="109728"/>
          </a:xfrm>
          <a:prstGeom prst="ellipse">
            <a:avLst/>
          </a:prstGeom>
          <a:solidFill>
            <a:srgbClr val="45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39F498-5196-42D1-8071-C04439A17133}"/>
              </a:ext>
            </a:extLst>
          </p:cNvPr>
          <p:cNvSpPr/>
          <p:nvPr/>
        </p:nvSpPr>
        <p:spPr>
          <a:xfrm>
            <a:off x="877970" y="3691562"/>
            <a:ext cx="109728" cy="109728"/>
          </a:xfrm>
          <a:prstGeom prst="ellipse">
            <a:avLst/>
          </a:prstGeom>
          <a:solidFill>
            <a:srgbClr val="45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78887FAA-B7E0-05AA-DA90-92EB1CD3AA26}"/>
              </a:ext>
            </a:extLst>
          </p:cNvPr>
          <p:cNvSpPr/>
          <p:nvPr/>
        </p:nvSpPr>
        <p:spPr>
          <a:xfrm>
            <a:off x="1061061" y="3124479"/>
            <a:ext cx="109728" cy="109728"/>
          </a:xfrm>
          <a:prstGeom prst="ellipse">
            <a:avLst/>
          </a:prstGeom>
          <a:solidFill>
            <a:srgbClr val="45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6DF2006-9D48-5373-567E-59235B35A8CA}"/>
              </a:ext>
            </a:extLst>
          </p:cNvPr>
          <p:cNvSpPr/>
          <p:nvPr/>
        </p:nvSpPr>
        <p:spPr>
          <a:xfrm>
            <a:off x="1062179" y="3502958"/>
            <a:ext cx="109728" cy="109728"/>
          </a:xfrm>
          <a:prstGeom prst="ellipse">
            <a:avLst/>
          </a:prstGeom>
          <a:solidFill>
            <a:srgbClr val="45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6C47420-538E-F98E-4F77-FE39CDB23820}"/>
              </a:ext>
            </a:extLst>
          </p:cNvPr>
          <p:cNvSpPr/>
          <p:nvPr/>
        </p:nvSpPr>
        <p:spPr>
          <a:xfrm>
            <a:off x="1436736" y="3122643"/>
            <a:ext cx="109728" cy="109728"/>
          </a:xfrm>
          <a:prstGeom prst="ellipse">
            <a:avLst/>
          </a:prstGeom>
          <a:solidFill>
            <a:srgbClr val="45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3A1B844-9C75-C1CB-AC55-1982A474D93D}"/>
              </a:ext>
            </a:extLst>
          </p:cNvPr>
          <p:cNvSpPr/>
          <p:nvPr/>
        </p:nvSpPr>
        <p:spPr>
          <a:xfrm>
            <a:off x="1435127" y="3501669"/>
            <a:ext cx="109728" cy="109728"/>
          </a:xfrm>
          <a:prstGeom prst="ellipse">
            <a:avLst/>
          </a:prstGeom>
          <a:solidFill>
            <a:srgbClr val="45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7FB4B13-A526-89A5-9FE7-6799E21D92C3}"/>
              </a:ext>
            </a:extLst>
          </p:cNvPr>
          <p:cNvSpPr/>
          <p:nvPr/>
        </p:nvSpPr>
        <p:spPr>
          <a:xfrm>
            <a:off x="1236704" y="2946634"/>
            <a:ext cx="109728" cy="109728"/>
          </a:xfrm>
          <a:prstGeom prst="ellipse">
            <a:avLst/>
          </a:prstGeom>
          <a:solidFill>
            <a:srgbClr val="45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49A14752-FF5E-B529-FBBF-68F52F0CF372}"/>
              </a:ext>
            </a:extLst>
          </p:cNvPr>
          <p:cNvSpPr/>
          <p:nvPr/>
        </p:nvSpPr>
        <p:spPr>
          <a:xfrm>
            <a:off x="1235095" y="3312872"/>
            <a:ext cx="109728" cy="109728"/>
          </a:xfrm>
          <a:prstGeom prst="ellipse">
            <a:avLst/>
          </a:prstGeom>
          <a:solidFill>
            <a:srgbClr val="45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3EEB103F-E57E-7941-C32A-95B295233D09}"/>
              </a:ext>
            </a:extLst>
          </p:cNvPr>
          <p:cNvSpPr/>
          <p:nvPr/>
        </p:nvSpPr>
        <p:spPr>
          <a:xfrm>
            <a:off x="1240970" y="3698050"/>
            <a:ext cx="109728" cy="109728"/>
          </a:xfrm>
          <a:prstGeom prst="ellipse">
            <a:avLst/>
          </a:prstGeom>
          <a:solidFill>
            <a:srgbClr val="453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08A1484-1E53-ED62-9247-5D8C6813F08C}"/>
              </a:ext>
            </a:extLst>
          </p:cNvPr>
          <p:cNvCxnSpPr>
            <a:cxnSpLocks/>
            <a:stCxn id="12" idx="1"/>
            <a:endCxn id="108" idx="1"/>
          </p:cNvCxnSpPr>
          <p:nvPr/>
        </p:nvCxnSpPr>
        <p:spPr>
          <a:xfrm>
            <a:off x="889773" y="2956215"/>
            <a:ext cx="187357" cy="184333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24C10FC-41E3-BCC5-5B9C-C2B0CBF2B8F9}"/>
              </a:ext>
            </a:extLst>
          </p:cNvPr>
          <p:cNvCxnSpPr>
            <a:cxnSpLocks/>
            <a:endCxn id="109" idx="1"/>
          </p:cNvCxnSpPr>
          <p:nvPr/>
        </p:nvCxnSpPr>
        <p:spPr>
          <a:xfrm>
            <a:off x="947344" y="3382202"/>
            <a:ext cx="130904" cy="136825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C8BDFB0-CE93-A4D7-582D-364B84AE456A}"/>
              </a:ext>
            </a:extLst>
          </p:cNvPr>
          <p:cNvCxnSpPr>
            <a:cxnSpLocks/>
            <a:endCxn id="115" idx="5"/>
          </p:cNvCxnSpPr>
          <p:nvPr/>
        </p:nvCxnSpPr>
        <p:spPr>
          <a:xfrm>
            <a:off x="1147856" y="3598609"/>
            <a:ext cx="186773" cy="193100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4284DE4-E954-2F00-D471-0D4F66771E93}"/>
              </a:ext>
            </a:extLst>
          </p:cNvPr>
          <p:cNvCxnSpPr>
            <a:cxnSpLocks/>
          </p:cNvCxnSpPr>
          <p:nvPr/>
        </p:nvCxnSpPr>
        <p:spPr>
          <a:xfrm>
            <a:off x="1139477" y="3212624"/>
            <a:ext cx="109767" cy="106743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21FF916D-9009-14C0-0227-F1F793C7B2DD}"/>
              </a:ext>
            </a:extLst>
          </p:cNvPr>
          <p:cNvCxnSpPr>
            <a:cxnSpLocks/>
            <a:stCxn id="113" idx="5"/>
            <a:endCxn id="111" idx="1"/>
          </p:cNvCxnSpPr>
          <p:nvPr/>
        </p:nvCxnSpPr>
        <p:spPr>
          <a:xfrm>
            <a:off x="1330363" y="3040293"/>
            <a:ext cx="122442" cy="98419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6FE0BB4-3BBA-E85F-A200-F408BAA561D0}"/>
              </a:ext>
            </a:extLst>
          </p:cNvPr>
          <p:cNvCxnSpPr>
            <a:cxnSpLocks/>
          </p:cNvCxnSpPr>
          <p:nvPr/>
        </p:nvCxnSpPr>
        <p:spPr>
          <a:xfrm>
            <a:off x="1288631" y="3355416"/>
            <a:ext cx="186773" cy="193100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819B74F-05FD-826C-2AAD-4CFCE31DC8D1}"/>
              </a:ext>
            </a:extLst>
          </p:cNvPr>
          <p:cNvCxnSpPr>
            <a:cxnSpLocks/>
            <a:stCxn id="14" idx="7"/>
            <a:endCxn id="109" idx="7"/>
          </p:cNvCxnSpPr>
          <p:nvPr/>
        </p:nvCxnSpPr>
        <p:spPr>
          <a:xfrm flipV="1">
            <a:off x="971629" y="3519027"/>
            <a:ext cx="184209" cy="188604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1722B314-9149-5A88-F7AC-35C8A4EBAD24}"/>
              </a:ext>
            </a:extLst>
          </p:cNvPr>
          <p:cNvCxnSpPr>
            <a:cxnSpLocks/>
          </p:cNvCxnSpPr>
          <p:nvPr/>
        </p:nvCxnSpPr>
        <p:spPr>
          <a:xfrm flipV="1">
            <a:off x="1117681" y="3355022"/>
            <a:ext cx="184209" cy="188604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DFB6213F-FD31-CF78-2114-690F490D00C5}"/>
              </a:ext>
            </a:extLst>
          </p:cNvPr>
          <p:cNvCxnSpPr>
            <a:cxnSpLocks/>
          </p:cNvCxnSpPr>
          <p:nvPr/>
        </p:nvCxnSpPr>
        <p:spPr>
          <a:xfrm flipV="1">
            <a:off x="941714" y="3168639"/>
            <a:ext cx="184209" cy="188604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B7945899-65BE-164F-1891-2DBFAD09E19C}"/>
              </a:ext>
            </a:extLst>
          </p:cNvPr>
          <p:cNvCxnSpPr>
            <a:cxnSpLocks/>
          </p:cNvCxnSpPr>
          <p:nvPr/>
        </p:nvCxnSpPr>
        <p:spPr>
          <a:xfrm flipV="1">
            <a:off x="1107510" y="2981692"/>
            <a:ext cx="184209" cy="188604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DE366AD-125F-38F8-7F4A-AEA4DACE0D2F}"/>
              </a:ext>
            </a:extLst>
          </p:cNvPr>
          <p:cNvCxnSpPr>
            <a:cxnSpLocks/>
          </p:cNvCxnSpPr>
          <p:nvPr/>
        </p:nvCxnSpPr>
        <p:spPr>
          <a:xfrm flipV="1">
            <a:off x="1314209" y="3171694"/>
            <a:ext cx="184209" cy="188604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25ECF1D-56D8-E14A-C30E-E26937F49E58}"/>
              </a:ext>
            </a:extLst>
          </p:cNvPr>
          <p:cNvCxnSpPr>
            <a:cxnSpLocks/>
          </p:cNvCxnSpPr>
          <p:nvPr/>
        </p:nvCxnSpPr>
        <p:spPr>
          <a:xfrm flipV="1">
            <a:off x="1288631" y="3552885"/>
            <a:ext cx="184209" cy="188604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E92FD19-6305-47E0-0C8C-5C96C4BB99B2}"/>
              </a:ext>
            </a:extLst>
          </p:cNvPr>
          <p:cNvCxnSpPr>
            <a:cxnSpLocks/>
            <a:endCxn id="109" idx="1"/>
          </p:cNvCxnSpPr>
          <p:nvPr/>
        </p:nvCxnSpPr>
        <p:spPr>
          <a:xfrm>
            <a:off x="928169" y="2995010"/>
            <a:ext cx="150079" cy="524017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75D4EC1-5F4F-1EB9-5D28-676534431958}"/>
              </a:ext>
            </a:extLst>
          </p:cNvPr>
          <p:cNvCxnSpPr>
            <a:cxnSpLocks/>
          </p:cNvCxnSpPr>
          <p:nvPr/>
        </p:nvCxnSpPr>
        <p:spPr>
          <a:xfrm>
            <a:off x="938996" y="3372630"/>
            <a:ext cx="130904" cy="136825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310F57C-75DD-9504-99AD-CF9E248FC011}"/>
              </a:ext>
            </a:extLst>
          </p:cNvPr>
          <p:cNvCxnSpPr>
            <a:cxnSpLocks/>
            <a:endCxn id="108" idx="0"/>
          </p:cNvCxnSpPr>
          <p:nvPr/>
        </p:nvCxnSpPr>
        <p:spPr>
          <a:xfrm flipV="1">
            <a:off x="941714" y="3124479"/>
            <a:ext cx="174211" cy="604136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45B09F9-0413-CAAB-93BA-B899F00FCFB3}"/>
              </a:ext>
            </a:extLst>
          </p:cNvPr>
          <p:cNvCxnSpPr>
            <a:cxnSpLocks/>
            <a:stCxn id="108" idx="4"/>
          </p:cNvCxnSpPr>
          <p:nvPr/>
        </p:nvCxnSpPr>
        <p:spPr>
          <a:xfrm>
            <a:off x="1115925" y="3234207"/>
            <a:ext cx="167212" cy="473232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7DDC0274-48A1-7CD6-308D-B2053381AA5C}"/>
              </a:ext>
            </a:extLst>
          </p:cNvPr>
          <p:cNvCxnSpPr>
            <a:cxnSpLocks/>
            <a:stCxn id="113" idx="4"/>
            <a:endCxn id="109" idx="7"/>
          </p:cNvCxnSpPr>
          <p:nvPr/>
        </p:nvCxnSpPr>
        <p:spPr>
          <a:xfrm flipH="1">
            <a:off x="1155838" y="3056362"/>
            <a:ext cx="135730" cy="462665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B5BC9BE-5819-7113-3766-1499293ED146}"/>
              </a:ext>
            </a:extLst>
          </p:cNvPr>
          <p:cNvCxnSpPr>
            <a:cxnSpLocks/>
          </p:cNvCxnSpPr>
          <p:nvPr/>
        </p:nvCxnSpPr>
        <p:spPr>
          <a:xfrm flipH="1">
            <a:off x="1308662" y="3214561"/>
            <a:ext cx="169132" cy="514100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E0E9231-C518-64F3-EE88-12BB30D10C90}"/>
              </a:ext>
            </a:extLst>
          </p:cNvPr>
          <p:cNvCxnSpPr>
            <a:cxnSpLocks/>
            <a:stCxn id="113" idx="4"/>
            <a:endCxn id="112" idx="0"/>
          </p:cNvCxnSpPr>
          <p:nvPr/>
        </p:nvCxnSpPr>
        <p:spPr>
          <a:xfrm>
            <a:off x="1291568" y="3056362"/>
            <a:ext cx="198423" cy="445307"/>
          </a:xfrm>
          <a:prstGeom prst="line">
            <a:avLst/>
          </a:prstGeom>
          <a:ln>
            <a:solidFill>
              <a:srgbClr val="453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02C8AA6D-C5C4-3BF9-A5E7-FF9772F8BE58}"/>
              </a:ext>
            </a:extLst>
          </p:cNvPr>
          <p:cNvSpPr/>
          <p:nvPr/>
        </p:nvSpPr>
        <p:spPr>
          <a:xfrm>
            <a:off x="267463" y="4312656"/>
            <a:ext cx="1947685" cy="256067"/>
          </a:xfrm>
          <a:prstGeom prst="roundRect">
            <a:avLst>
              <a:gd name="adj" fmla="val 10000"/>
            </a:avLst>
          </a:prstGeom>
          <a:solidFill>
            <a:srgbClr val="B7A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rgbClr val="453C8C"/>
                </a:solidFill>
              </a:rPr>
              <a:t>”jumped over the lazy dog.”</a:t>
            </a:r>
            <a:endParaRPr sz="1100">
              <a:solidFill>
                <a:srgbClr val="453C8C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3964BDC-8BC4-7578-C0FC-B033F5695449}"/>
              </a:ext>
            </a:extLst>
          </p:cNvPr>
          <p:cNvSpPr/>
          <p:nvPr/>
        </p:nvSpPr>
        <p:spPr>
          <a:xfrm>
            <a:off x="2452013" y="1338487"/>
            <a:ext cx="2049341" cy="3600450"/>
          </a:xfrm>
          <a:prstGeom prst="roundRect">
            <a:avLst>
              <a:gd name="adj" fmla="val 6000"/>
            </a:avLst>
          </a:prstGeom>
          <a:solidFill>
            <a:srgbClr val="0C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FFBC2-F146-7196-9DF5-AF52FF65C19E}"/>
              </a:ext>
            </a:extLst>
          </p:cNvPr>
          <p:cNvSpPr txBox="1"/>
          <p:nvPr/>
        </p:nvSpPr>
        <p:spPr>
          <a:xfrm>
            <a:off x="2452013" y="1461931"/>
            <a:ext cx="2049341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75" b="1">
                <a:solidFill>
                  <a:srgbClr val="FFFFFF"/>
                </a:solidFill>
                <a:latin typeface="Calibri"/>
              </a:rPr>
              <a:t>Context window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E60EBD-6FAB-2C85-9627-694D07CBA665}"/>
              </a:ext>
            </a:extLst>
          </p:cNvPr>
          <p:cNvSpPr txBox="1"/>
          <p:nvPr/>
        </p:nvSpPr>
        <p:spPr>
          <a:xfrm>
            <a:off x="2452013" y="1763684"/>
            <a:ext cx="2049341" cy="2886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38" b="1">
                <a:solidFill>
                  <a:srgbClr val="BFE2D8"/>
                </a:solidFill>
                <a:latin typeface="Calibri"/>
              </a:rPr>
              <a:t>Data on which the LLM makes predictions.</a:t>
            </a:r>
            <a:endParaRPr sz="938" b="1">
              <a:solidFill>
                <a:srgbClr val="BFE2D8"/>
              </a:solidFill>
              <a:latin typeface="Calibri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7C3DA6-F07E-DEEB-F6A6-090D258E0C47}"/>
              </a:ext>
            </a:extLst>
          </p:cNvPr>
          <p:cNvSpPr/>
          <p:nvPr/>
        </p:nvSpPr>
        <p:spPr>
          <a:xfrm>
            <a:off x="2598906" y="2249467"/>
            <a:ext cx="1747589" cy="315468"/>
          </a:xfrm>
          <a:prstGeom prst="roundRect">
            <a:avLst>
              <a:gd name="adj" fmla="val 18000"/>
            </a:avLst>
          </a:prstGeom>
          <a:solidFill>
            <a:srgbClr val="CB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B69217-9480-64BF-0E2F-7135D903DB70}"/>
              </a:ext>
            </a:extLst>
          </p:cNvPr>
          <p:cNvSpPr txBox="1"/>
          <p:nvPr/>
        </p:nvSpPr>
        <p:spPr>
          <a:xfrm>
            <a:off x="2598906" y="2314869"/>
            <a:ext cx="1433083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200" b="1">
                <a:solidFill>
                  <a:srgbClr val="0A3A32"/>
                </a:solidFill>
                <a:latin typeface="Calibri"/>
              </a:rPr>
              <a:t>    User prompt</a:t>
            </a:r>
            <a:endParaRPr sz="1200" b="1">
              <a:solidFill>
                <a:srgbClr val="0A3A32"/>
              </a:solidFill>
              <a:latin typeface="Calibri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91F53AA-B45B-A05C-68C5-5908B51A8586}"/>
              </a:ext>
            </a:extLst>
          </p:cNvPr>
          <p:cNvSpPr/>
          <p:nvPr/>
        </p:nvSpPr>
        <p:spPr>
          <a:xfrm>
            <a:off x="2598906" y="2707645"/>
            <a:ext cx="1747589" cy="315468"/>
          </a:xfrm>
          <a:prstGeom prst="roundRect">
            <a:avLst>
              <a:gd name="adj" fmla="val 18000"/>
            </a:avLst>
          </a:prstGeom>
          <a:solidFill>
            <a:srgbClr val="CB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4D126C-852D-46F9-BCF4-D0B258F180FE}"/>
              </a:ext>
            </a:extLst>
          </p:cNvPr>
          <p:cNvSpPr txBox="1"/>
          <p:nvPr/>
        </p:nvSpPr>
        <p:spPr>
          <a:xfrm>
            <a:off x="2598906" y="2773047"/>
            <a:ext cx="1433083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200" b="1">
                <a:solidFill>
                  <a:srgbClr val="0A3A32"/>
                </a:solidFill>
                <a:latin typeface="Calibri"/>
              </a:rPr>
              <a:t>    System prompt</a:t>
            </a:r>
            <a:endParaRPr sz="1200" b="1">
              <a:solidFill>
                <a:srgbClr val="0A3A32"/>
              </a:solidFill>
              <a:latin typeface="Calibri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DBA76C8-8C6C-C209-8B44-BE8881CE07B9}"/>
              </a:ext>
            </a:extLst>
          </p:cNvPr>
          <p:cNvSpPr/>
          <p:nvPr/>
        </p:nvSpPr>
        <p:spPr>
          <a:xfrm>
            <a:off x="2608034" y="3650695"/>
            <a:ext cx="1747589" cy="315468"/>
          </a:xfrm>
          <a:prstGeom prst="roundRect">
            <a:avLst>
              <a:gd name="adj" fmla="val 18000"/>
            </a:avLst>
          </a:prstGeom>
          <a:solidFill>
            <a:srgbClr val="CB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184F82-ED2D-EDE6-2880-5ECE1DEE203E}"/>
              </a:ext>
            </a:extLst>
          </p:cNvPr>
          <p:cNvSpPr txBox="1"/>
          <p:nvPr/>
        </p:nvSpPr>
        <p:spPr>
          <a:xfrm>
            <a:off x="2608034" y="3716097"/>
            <a:ext cx="1433083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200" b="1">
                <a:solidFill>
                  <a:srgbClr val="0A3A32"/>
                </a:solidFill>
                <a:latin typeface="Calibri"/>
              </a:rPr>
              <a:t>   Tool definitions</a:t>
            </a:r>
            <a:endParaRPr sz="1200" b="1">
              <a:solidFill>
                <a:srgbClr val="0A3A32"/>
              </a:solidFill>
              <a:latin typeface="Calibri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2D6A44-2DFB-97C3-208E-B4266ECED08A}"/>
              </a:ext>
            </a:extLst>
          </p:cNvPr>
          <p:cNvSpPr/>
          <p:nvPr/>
        </p:nvSpPr>
        <p:spPr>
          <a:xfrm>
            <a:off x="2611694" y="4143409"/>
            <a:ext cx="1747589" cy="315468"/>
          </a:xfrm>
          <a:prstGeom prst="roundRect">
            <a:avLst>
              <a:gd name="adj" fmla="val 18000"/>
            </a:avLst>
          </a:prstGeom>
          <a:solidFill>
            <a:srgbClr val="CB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66BD11-9BAF-4858-4349-2037A538BAC0}"/>
              </a:ext>
            </a:extLst>
          </p:cNvPr>
          <p:cNvSpPr txBox="1"/>
          <p:nvPr/>
        </p:nvSpPr>
        <p:spPr>
          <a:xfrm>
            <a:off x="2611694" y="4208811"/>
            <a:ext cx="1433083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200" b="1">
                <a:solidFill>
                  <a:srgbClr val="0A3A32"/>
                </a:solidFill>
                <a:latin typeface="Calibri"/>
              </a:rPr>
              <a:t>   Tool results</a:t>
            </a:r>
            <a:endParaRPr sz="1200" b="1">
              <a:solidFill>
                <a:srgbClr val="0A3A32"/>
              </a:solidFill>
              <a:latin typeface="Calibri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EDC59AA-9F60-6217-E653-9A8AE38CB00F}"/>
              </a:ext>
            </a:extLst>
          </p:cNvPr>
          <p:cNvSpPr/>
          <p:nvPr/>
        </p:nvSpPr>
        <p:spPr>
          <a:xfrm>
            <a:off x="2599297" y="3183724"/>
            <a:ext cx="1747589" cy="315468"/>
          </a:xfrm>
          <a:prstGeom prst="roundRect">
            <a:avLst>
              <a:gd name="adj" fmla="val 18000"/>
            </a:avLst>
          </a:prstGeom>
          <a:solidFill>
            <a:srgbClr val="CB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9187E9-4509-0359-A786-B728D12C040D}"/>
              </a:ext>
            </a:extLst>
          </p:cNvPr>
          <p:cNvSpPr txBox="1"/>
          <p:nvPr/>
        </p:nvSpPr>
        <p:spPr>
          <a:xfrm>
            <a:off x="2599297" y="3249126"/>
            <a:ext cx="161552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200" b="1">
                <a:solidFill>
                  <a:srgbClr val="0A3A32"/>
                </a:solidFill>
                <a:latin typeface="Calibri"/>
              </a:rPr>
              <a:t>    Conversation history</a:t>
            </a:r>
            <a:endParaRPr sz="1200" b="1">
              <a:solidFill>
                <a:srgbClr val="0A3A3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1747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DEB5B-D8F4-1CE2-5A92-2C331E91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DA2C-40A0-5DA8-8FE5-B9FAA477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44" y="68540"/>
            <a:ext cx="8564456" cy="426720"/>
          </a:xfrm>
        </p:spPr>
        <p:txBody>
          <a:bodyPr>
            <a:normAutofit fontScale="90000"/>
          </a:bodyPr>
          <a:lstStyle/>
          <a:p>
            <a:r>
              <a:rPr lang="en-US"/>
              <a:t>Example: Claude 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69B4C-B9B2-8F40-603E-4D6DA14E3E7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F61076C-79F6-4F04-9A42-761E8ADA4754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41283-46D0-A671-7E70-8B7FC6A89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C47640-ECEC-E34E-A5C6-81F2A80A839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325FBC1-6BD7-01A0-81E3-5533E73D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12" y="1664683"/>
            <a:ext cx="8844575" cy="31103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B5E9A3-58A2-2106-48DF-CBF582A0572B}"/>
              </a:ext>
            </a:extLst>
          </p:cNvPr>
          <p:cNvSpPr txBox="1"/>
          <p:nvPr/>
        </p:nvSpPr>
        <p:spPr>
          <a:xfrm>
            <a:off x="383557" y="895305"/>
            <a:ext cx="696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Claude Code is an agent with tools like Write(), Edit(), Bash(), etc.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021134B-0C6F-AAF6-D190-7A6F125DC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906026"/>
            <a:ext cx="2895600" cy="168934"/>
          </a:xfrm>
        </p:spPr>
        <p:txBody>
          <a:bodyPr/>
          <a:lstStyle/>
          <a:p>
            <a:r>
              <a:rPr lang="en-US"/>
              <a:t>Copyright © 2026 Eli Lilly and Company </a:t>
            </a:r>
          </a:p>
        </p:txBody>
      </p:sp>
    </p:spTree>
    <p:extLst>
      <p:ext uri="{BB962C8B-B14F-4D97-AF65-F5344CB8AC3E}">
        <p14:creationId xmlns:p14="http://schemas.microsoft.com/office/powerpoint/2010/main" val="3061064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47818-5D11-62E0-CA84-10DD88A1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B514-D284-009E-1955-F40801FDE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30" y="51544"/>
            <a:ext cx="8981982" cy="426720"/>
          </a:xfrm>
        </p:spPr>
        <p:txBody>
          <a:bodyPr>
            <a:noAutofit/>
          </a:bodyPr>
          <a:lstStyle/>
          <a:p>
            <a:r>
              <a:rPr lang="en-US" sz="2200"/>
              <a:t>Claude Code is not designed to control hallucinations.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9429A-1BE8-EBCF-47D8-13D9174E7FD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F61076C-79F6-4F04-9A42-761E8ADA4754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80C7E-DEB9-8FA8-CAAF-24FCACF56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C47640-ECEC-E34E-A5C6-81F2A80A839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D8AFEBB-FAF3-04DB-B2F8-EF93C7BA0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66" y="1312757"/>
            <a:ext cx="7237851" cy="1673240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C39BDE8-DCC4-33D9-F72C-3F1FD3A3045F}"/>
              </a:ext>
            </a:extLst>
          </p:cNvPr>
          <p:cNvSpPr/>
          <p:nvPr/>
        </p:nvSpPr>
        <p:spPr>
          <a:xfrm>
            <a:off x="57300" y="4122962"/>
            <a:ext cx="8981982" cy="41994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/>
              <a:t>***PROMPTS AND SKILLS ARE ABOUT CONVENIENCE, NOT CORRECTNESS!***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9528E6-3C17-0773-8A59-A023EBDA367F}"/>
              </a:ext>
            </a:extLst>
          </p:cNvPr>
          <p:cNvSpPr txBox="1"/>
          <p:nvPr/>
        </p:nvSpPr>
        <p:spPr>
          <a:xfrm>
            <a:off x="457200" y="713719"/>
            <a:ext cx="7430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Claude Code tools are too broad, too privileged, and too hard to check.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F95BF4-B596-3BC9-E6E2-B9E44AD0D4C7}"/>
              </a:ext>
            </a:extLst>
          </p:cNvPr>
          <p:cNvSpPr txBox="1"/>
          <p:nvPr/>
        </p:nvSpPr>
        <p:spPr>
          <a:xfrm>
            <a:off x="457200" y="3351229"/>
            <a:ext cx="5695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Prompts and skills cannot prevent hallucinations.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68B30F2-3A75-B4F9-2AB6-E2453639C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906026"/>
            <a:ext cx="2895600" cy="168934"/>
          </a:xfrm>
        </p:spPr>
        <p:txBody>
          <a:bodyPr/>
          <a:lstStyle/>
          <a:p>
            <a:r>
              <a:rPr lang="en-US"/>
              <a:t>Copyright © 2026 Eli Lilly and Company </a:t>
            </a:r>
          </a:p>
        </p:txBody>
      </p:sp>
    </p:spTree>
    <p:extLst>
      <p:ext uri="{BB962C8B-B14F-4D97-AF65-F5344CB8AC3E}">
        <p14:creationId xmlns:p14="http://schemas.microsoft.com/office/powerpoint/2010/main" val="419688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9D03-5DF6-B16F-1266-091BAA058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78000"/>
            <a:ext cx="9143999" cy="1003300"/>
          </a:xfrm>
        </p:spPr>
        <p:txBody>
          <a:bodyPr/>
          <a:lstStyle/>
          <a:p>
            <a:r>
              <a:rPr lang="en-US"/>
              <a:t>Controlling hallucinations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6767F0-AD5C-3955-9E6F-6D9B176913DF}"/>
              </a:ext>
            </a:extLst>
          </p:cNvPr>
          <p:cNvSpPr/>
          <p:nvPr/>
        </p:nvSpPr>
        <p:spPr>
          <a:xfrm>
            <a:off x="6309360" y="3742509"/>
            <a:ext cx="2664823" cy="1345474"/>
          </a:xfrm>
          <a:prstGeom prst="rect">
            <a:avLst/>
          </a:prstGeom>
          <a:solidFill>
            <a:srgbClr val="D52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46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B4B4E-23AA-E44E-D14A-7B8CFFBCDEA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F61076C-79F6-4F04-9A42-761E8ADA4754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7A900-B7BA-DE39-7369-28CE4B25F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C47640-ECEC-E34E-A5C6-81F2A80A839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2A890FC-DC19-3522-CF64-0EC87986F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339" y="98765"/>
            <a:ext cx="8749621" cy="426720"/>
          </a:xfrm>
        </p:spPr>
        <p:txBody>
          <a:bodyPr>
            <a:noAutofit/>
          </a:bodyPr>
          <a:lstStyle/>
          <a:p>
            <a:r>
              <a:rPr lang="en-US" sz="2400"/>
              <a:t>Large language models hallucinate.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BD98763-FB88-E67A-018B-02A0DE540780}"/>
              </a:ext>
            </a:extLst>
          </p:cNvPr>
          <p:cNvSpPr txBox="1">
            <a:spLocks/>
          </p:cNvSpPr>
          <p:nvPr/>
        </p:nvSpPr>
        <p:spPr bwMode="auto">
          <a:xfrm>
            <a:off x="457200" y="4905620"/>
            <a:ext cx="2133600" cy="160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0819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8163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22458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6327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040969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449163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2857357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265551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fld id="{DF61076C-79F6-4F04-9A42-761E8ADA4754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1F6C405-8C62-1BEC-4ABE-B5C6B2749FF3}"/>
              </a:ext>
            </a:extLst>
          </p:cNvPr>
          <p:cNvSpPr txBox="1">
            <a:spLocks/>
          </p:cNvSpPr>
          <p:nvPr/>
        </p:nvSpPr>
        <p:spPr bwMode="auto">
          <a:xfrm>
            <a:off x="6553200" y="4906836"/>
            <a:ext cx="2133600" cy="185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0819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8163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22458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6327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040969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449163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2857357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265551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fld id="{64C47640-ECEC-E34E-A5C6-81F2A80A839B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E895DD-DB60-35CF-B930-DCF2C1E6449C}"/>
              </a:ext>
            </a:extLst>
          </p:cNvPr>
          <p:cNvCxnSpPr>
            <a:cxnSpLocks/>
          </p:cNvCxnSpPr>
          <p:nvPr/>
        </p:nvCxnSpPr>
        <p:spPr>
          <a:xfrm flipH="1">
            <a:off x="1035319" y="1347279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271D91-5D26-2F6D-C99D-2900C9900110}"/>
              </a:ext>
            </a:extLst>
          </p:cNvPr>
          <p:cNvCxnSpPr/>
          <p:nvPr/>
        </p:nvCxnSpPr>
        <p:spPr>
          <a:xfrm flipH="1">
            <a:off x="4569691" y="1378120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A4DA9E-171F-7D79-64E6-52C276F5D964}"/>
              </a:ext>
            </a:extLst>
          </p:cNvPr>
          <p:cNvCxnSpPr>
            <a:cxnSpLocks/>
          </p:cNvCxnSpPr>
          <p:nvPr/>
        </p:nvCxnSpPr>
        <p:spPr>
          <a:xfrm>
            <a:off x="1035319" y="1960419"/>
            <a:ext cx="35343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A904730-BD51-9F6F-11E0-1A6F04A58B22}"/>
              </a:ext>
            </a:extLst>
          </p:cNvPr>
          <p:cNvCxnSpPr>
            <a:cxnSpLocks/>
          </p:cNvCxnSpPr>
          <p:nvPr/>
        </p:nvCxnSpPr>
        <p:spPr>
          <a:xfrm flipH="1">
            <a:off x="1035319" y="4384398"/>
            <a:ext cx="35343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C84FE63-EEA5-D1C4-EA83-91CE1A908F69}"/>
              </a:ext>
            </a:extLst>
          </p:cNvPr>
          <p:cNvSpPr txBox="1"/>
          <p:nvPr/>
        </p:nvSpPr>
        <p:spPr>
          <a:xfrm>
            <a:off x="1398707" y="1652642"/>
            <a:ext cx="2832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“What’s the weather in Chicago?”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14D0EF-7CBB-65BD-7BEB-3C234A146DDE}"/>
              </a:ext>
            </a:extLst>
          </p:cNvPr>
          <p:cNvSpPr txBox="1"/>
          <p:nvPr/>
        </p:nvSpPr>
        <p:spPr>
          <a:xfrm>
            <a:off x="1483106" y="4030729"/>
            <a:ext cx="2858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It’s 50°F and rainy in Indianapolis.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C6B4432-22D8-8CB5-1EFC-C79923E7AFC4}"/>
              </a:ext>
            </a:extLst>
          </p:cNvPr>
          <p:cNvSpPr/>
          <p:nvPr/>
        </p:nvSpPr>
        <p:spPr>
          <a:xfrm rot="20734219">
            <a:off x="1110480" y="3527049"/>
            <a:ext cx="2386576" cy="3704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HALLUCINATION!!!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9383948E-F13D-F61E-8CBB-54BCDC727637}"/>
              </a:ext>
            </a:extLst>
          </p:cNvPr>
          <p:cNvSpPr/>
          <p:nvPr/>
        </p:nvSpPr>
        <p:spPr>
          <a:xfrm>
            <a:off x="249612" y="778065"/>
            <a:ext cx="1571414" cy="582506"/>
          </a:xfrm>
          <a:prstGeom prst="roundRect">
            <a:avLst/>
          </a:prstGeom>
          <a:solidFill>
            <a:srgbClr val="0C447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47CFCE5-5684-8AA9-AC13-1FBB923F99E1}"/>
              </a:ext>
            </a:extLst>
          </p:cNvPr>
          <p:cNvSpPr/>
          <p:nvPr/>
        </p:nvSpPr>
        <p:spPr>
          <a:xfrm>
            <a:off x="3783984" y="778065"/>
            <a:ext cx="1571414" cy="582506"/>
          </a:xfrm>
          <a:prstGeom prst="roundRect">
            <a:avLst/>
          </a:prstGeom>
          <a:solidFill>
            <a:srgbClr val="3C348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LLM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F5FE7EB-072B-B6A1-00A4-50E29281C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906026"/>
            <a:ext cx="2895600" cy="168934"/>
          </a:xfrm>
        </p:spPr>
        <p:txBody>
          <a:bodyPr/>
          <a:lstStyle/>
          <a:p>
            <a:r>
              <a:rPr lang="en-US"/>
              <a:t>Copyright © 2026 Eli Lilly and Company </a:t>
            </a:r>
          </a:p>
        </p:txBody>
      </p:sp>
    </p:spTree>
    <p:extLst>
      <p:ext uri="{BB962C8B-B14F-4D97-AF65-F5344CB8AC3E}">
        <p14:creationId xmlns:p14="http://schemas.microsoft.com/office/powerpoint/2010/main" val="413266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F91C-40CB-3381-3C9E-8255C82F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081B1-2B7F-132C-D1F5-ECABE96EF44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F61076C-79F6-4F04-9A42-761E8ADA4754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31803-BFC1-8D0B-288C-0BD92A903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C47640-ECEC-E34E-A5C6-81F2A80A839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814ABED-C435-8C73-9A4E-9D8935175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678" y="115039"/>
            <a:ext cx="9085699" cy="426720"/>
          </a:xfrm>
        </p:spPr>
        <p:txBody>
          <a:bodyPr>
            <a:noAutofit/>
          </a:bodyPr>
          <a:lstStyle/>
          <a:p>
            <a:r>
              <a:rPr lang="en-US" sz="2400"/>
              <a:t>Tools add context but may not prevent hallucinations.  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9F265C7-6993-8299-F21E-1BCDBC725CC8}"/>
              </a:ext>
            </a:extLst>
          </p:cNvPr>
          <p:cNvSpPr txBox="1">
            <a:spLocks/>
          </p:cNvSpPr>
          <p:nvPr/>
        </p:nvSpPr>
        <p:spPr bwMode="auto">
          <a:xfrm>
            <a:off x="457200" y="4905620"/>
            <a:ext cx="2133600" cy="160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0819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8163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22458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6327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040969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449163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2857357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265551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fld id="{DF61076C-79F6-4F04-9A42-761E8ADA4754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1B23B28-ED46-698F-F0FF-E107EFAA6CD7}"/>
              </a:ext>
            </a:extLst>
          </p:cNvPr>
          <p:cNvSpPr txBox="1">
            <a:spLocks/>
          </p:cNvSpPr>
          <p:nvPr/>
        </p:nvSpPr>
        <p:spPr bwMode="auto">
          <a:xfrm>
            <a:off x="6553200" y="4906836"/>
            <a:ext cx="2133600" cy="185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0819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8163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22458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6327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040969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449163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2857357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265551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fld id="{64C47640-ECEC-E34E-A5C6-81F2A80A839B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ACF970-0225-5B1C-B2CC-5D02F880618C}"/>
              </a:ext>
            </a:extLst>
          </p:cNvPr>
          <p:cNvCxnSpPr>
            <a:cxnSpLocks/>
          </p:cNvCxnSpPr>
          <p:nvPr/>
        </p:nvCxnSpPr>
        <p:spPr>
          <a:xfrm flipH="1">
            <a:off x="1035319" y="1347279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8AF3F5-82D1-42C7-A232-087A71E8B5CB}"/>
              </a:ext>
            </a:extLst>
          </p:cNvPr>
          <p:cNvCxnSpPr/>
          <p:nvPr/>
        </p:nvCxnSpPr>
        <p:spPr>
          <a:xfrm flipH="1">
            <a:off x="4569691" y="1378120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8EED9C-0EBB-3600-2B53-F6856DD7B86C}"/>
              </a:ext>
            </a:extLst>
          </p:cNvPr>
          <p:cNvCxnSpPr/>
          <p:nvPr/>
        </p:nvCxnSpPr>
        <p:spPr>
          <a:xfrm flipH="1">
            <a:off x="8126921" y="1368213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25FAF26-86D9-5DD4-4D4A-45492056E861}"/>
              </a:ext>
            </a:extLst>
          </p:cNvPr>
          <p:cNvCxnSpPr>
            <a:cxnSpLocks/>
          </p:cNvCxnSpPr>
          <p:nvPr/>
        </p:nvCxnSpPr>
        <p:spPr>
          <a:xfrm>
            <a:off x="1035319" y="1960419"/>
            <a:ext cx="35343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283F41-B9CE-DE6D-3102-35C1F03090B1}"/>
              </a:ext>
            </a:extLst>
          </p:cNvPr>
          <p:cNvCxnSpPr>
            <a:cxnSpLocks/>
          </p:cNvCxnSpPr>
          <p:nvPr/>
        </p:nvCxnSpPr>
        <p:spPr>
          <a:xfrm flipV="1">
            <a:off x="4592549" y="2753206"/>
            <a:ext cx="3534372" cy="155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6C828A-AE3B-15BF-F3F9-51B740B0A599}"/>
              </a:ext>
            </a:extLst>
          </p:cNvPr>
          <p:cNvCxnSpPr>
            <a:cxnSpLocks/>
          </p:cNvCxnSpPr>
          <p:nvPr/>
        </p:nvCxnSpPr>
        <p:spPr>
          <a:xfrm flipH="1">
            <a:off x="4569691" y="3629786"/>
            <a:ext cx="35572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A7D056-3C35-8FCE-3225-C82AB2ED96F2}"/>
              </a:ext>
            </a:extLst>
          </p:cNvPr>
          <p:cNvCxnSpPr>
            <a:cxnSpLocks/>
          </p:cNvCxnSpPr>
          <p:nvPr/>
        </p:nvCxnSpPr>
        <p:spPr>
          <a:xfrm flipH="1">
            <a:off x="1035319" y="4384398"/>
            <a:ext cx="35343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CDB2E7A-C60C-10A1-60EC-84C25FDD0D71}"/>
              </a:ext>
            </a:extLst>
          </p:cNvPr>
          <p:cNvSpPr txBox="1"/>
          <p:nvPr/>
        </p:nvSpPr>
        <p:spPr>
          <a:xfrm>
            <a:off x="1398707" y="1652642"/>
            <a:ext cx="2832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“What’s the weather in Chicago?”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29367F-703C-FEE8-FF88-D7B28C596E52}"/>
              </a:ext>
            </a:extLst>
          </p:cNvPr>
          <p:cNvSpPr txBox="1"/>
          <p:nvPr/>
        </p:nvSpPr>
        <p:spPr>
          <a:xfrm>
            <a:off x="4810064" y="2445194"/>
            <a:ext cx="3076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get_weather(lat = 41.8, long = -87.6)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6C6C9A-43FC-2BE0-6E66-D98E77501761}"/>
              </a:ext>
            </a:extLst>
          </p:cNvPr>
          <p:cNvSpPr txBox="1"/>
          <p:nvPr/>
        </p:nvSpPr>
        <p:spPr>
          <a:xfrm>
            <a:off x="4742699" y="3265427"/>
            <a:ext cx="3264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{”temperature”: 72, “weather”: “Sunny”}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31285E-F8C6-7494-4A31-01E9E464441B}"/>
              </a:ext>
            </a:extLst>
          </p:cNvPr>
          <p:cNvSpPr txBox="1"/>
          <p:nvPr/>
        </p:nvSpPr>
        <p:spPr>
          <a:xfrm>
            <a:off x="1483106" y="4030729"/>
            <a:ext cx="2858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It’s 50°F and rainy in Indianapolis.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8C012C1-191D-104B-E816-20F95AA81F60}"/>
              </a:ext>
            </a:extLst>
          </p:cNvPr>
          <p:cNvSpPr/>
          <p:nvPr/>
        </p:nvSpPr>
        <p:spPr>
          <a:xfrm rot="20734219">
            <a:off x="1110480" y="3527049"/>
            <a:ext cx="2386576" cy="3704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HALLUCINATION!!!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38254D6-F150-F7F7-D446-195F0E18E8C0}"/>
              </a:ext>
            </a:extLst>
          </p:cNvPr>
          <p:cNvSpPr/>
          <p:nvPr/>
        </p:nvSpPr>
        <p:spPr>
          <a:xfrm>
            <a:off x="249612" y="778065"/>
            <a:ext cx="1571414" cy="582506"/>
          </a:xfrm>
          <a:prstGeom prst="roundRect">
            <a:avLst/>
          </a:prstGeom>
          <a:solidFill>
            <a:srgbClr val="0C447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55E4D2A-08CB-0EC6-AC04-02FB7C66C4A1}"/>
              </a:ext>
            </a:extLst>
          </p:cNvPr>
          <p:cNvSpPr/>
          <p:nvPr/>
        </p:nvSpPr>
        <p:spPr>
          <a:xfrm>
            <a:off x="3783984" y="778065"/>
            <a:ext cx="1571414" cy="582506"/>
          </a:xfrm>
          <a:prstGeom prst="roundRect">
            <a:avLst/>
          </a:prstGeom>
          <a:solidFill>
            <a:srgbClr val="3C348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LLM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170DF898-9B1E-BFEB-6949-B508DC8ED7FC}"/>
              </a:ext>
            </a:extLst>
          </p:cNvPr>
          <p:cNvSpPr/>
          <p:nvPr/>
        </p:nvSpPr>
        <p:spPr>
          <a:xfrm>
            <a:off x="7318356" y="795614"/>
            <a:ext cx="1571414" cy="582506"/>
          </a:xfrm>
          <a:prstGeom prst="roundRect">
            <a:avLst/>
          </a:prstGeom>
          <a:solidFill>
            <a:srgbClr val="712A1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Tool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9DFEB98-368D-940F-2C0C-28DD32F8D6B6}"/>
              </a:ext>
            </a:extLst>
          </p:cNvPr>
          <p:cNvSpPr/>
          <p:nvPr/>
        </p:nvSpPr>
        <p:spPr>
          <a:xfrm rot="20932585">
            <a:off x="4681094" y="2018489"/>
            <a:ext cx="2386576" cy="370484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/>
                </a:solidFill>
              </a:rPr>
              <a:t>VULNERABLE!!!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7E5D2C1-843A-8AF9-FC37-25B921847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906026"/>
            <a:ext cx="2895600" cy="168934"/>
          </a:xfrm>
        </p:spPr>
        <p:txBody>
          <a:bodyPr/>
          <a:lstStyle/>
          <a:p>
            <a:r>
              <a:rPr lang="en-US"/>
              <a:t>Copyright © 2026 Eli Lilly and Company </a:t>
            </a:r>
          </a:p>
        </p:txBody>
      </p:sp>
    </p:spTree>
    <p:extLst>
      <p:ext uri="{BB962C8B-B14F-4D97-AF65-F5344CB8AC3E}">
        <p14:creationId xmlns:p14="http://schemas.microsoft.com/office/powerpoint/2010/main" val="267123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44" grpId="0" animBg="1"/>
      <p:bldP spid="5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BC9BD-0893-C1CD-3CFE-6AD7E6D5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D9A27-2483-376E-568B-05ED6924996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F61076C-79F6-4F04-9A42-761E8ADA4754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AA91F-EA76-9FAC-7B5F-B93D6FECB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C47640-ECEC-E34E-A5C6-81F2A80A839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93E59D9-B50D-ED52-F8F7-EACC52099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62" y="119699"/>
            <a:ext cx="7853927" cy="426720"/>
          </a:xfrm>
        </p:spPr>
        <p:txBody>
          <a:bodyPr>
            <a:noAutofit/>
          </a:bodyPr>
          <a:lstStyle/>
          <a:p>
            <a:r>
              <a:rPr lang="en-US" sz="2400"/>
              <a:t>Fix 1 of 3: help the human review the location.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0950BC6-4B62-5666-C28F-DF90906CC624}"/>
              </a:ext>
            </a:extLst>
          </p:cNvPr>
          <p:cNvSpPr txBox="1">
            <a:spLocks/>
          </p:cNvSpPr>
          <p:nvPr/>
        </p:nvSpPr>
        <p:spPr bwMode="auto">
          <a:xfrm>
            <a:off x="457200" y="4905620"/>
            <a:ext cx="2133600" cy="160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0819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8163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22458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6327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040969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449163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2857357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265551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fld id="{DF61076C-79F6-4F04-9A42-761E8ADA4754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76CCECD-87DD-E164-114D-5DCE7DAA1F71}"/>
              </a:ext>
            </a:extLst>
          </p:cNvPr>
          <p:cNvSpPr txBox="1">
            <a:spLocks/>
          </p:cNvSpPr>
          <p:nvPr/>
        </p:nvSpPr>
        <p:spPr bwMode="auto">
          <a:xfrm>
            <a:off x="6553200" y="4906836"/>
            <a:ext cx="2133600" cy="185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0819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8163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22458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6327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040969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449163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2857357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265551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fld id="{64C47640-ECEC-E34E-A5C6-81F2A80A839B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686E09-BC80-EEC3-ADFA-8F3972E6BE12}"/>
              </a:ext>
            </a:extLst>
          </p:cNvPr>
          <p:cNvCxnSpPr>
            <a:cxnSpLocks/>
          </p:cNvCxnSpPr>
          <p:nvPr/>
        </p:nvCxnSpPr>
        <p:spPr>
          <a:xfrm flipH="1">
            <a:off x="1035319" y="1347279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E00845-E1B2-6892-63FC-C7D809BBCBFC}"/>
              </a:ext>
            </a:extLst>
          </p:cNvPr>
          <p:cNvCxnSpPr/>
          <p:nvPr/>
        </p:nvCxnSpPr>
        <p:spPr>
          <a:xfrm flipH="1">
            <a:off x="4569691" y="1378120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025EDD-9326-A5EB-C2E2-601B87B921A6}"/>
              </a:ext>
            </a:extLst>
          </p:cNvPr>
          <p:cNvCxnSpPr/>
          <p:nvPr/>
        </p:nvCxnSpPr>
        <p:spPr>
          <a:xfrm flipH="1">
            <a:off x="8126921" y="1368213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F1DB85-F538-90CE-06E2-0A1113B26585}"/>
              </a:ext>
            </a:extLst>
          </p:cNvPr>
          <p:cNvCxnSpPr>
            <a:cxnSpLocks/>
          </p:cNvCxnSpPr>
          <p:nvPr/>
        </p:nvCxnSpPr>
        <p:spPr>
          <a:xfrm>
            <a:off x="1035319" y="1960419"/>
            <a:ext cx="35343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A90623-60AF-B886-1822-05FF49D57E00}"/>
              </a:ext>
            </a:extLst>
          </p:cNvPr>
          <p:cNvCxnSpPr>
            <a:cxnSpLocks/>
          </p:cNvCxnSpPr>
          <p:nvPr/>
        </p:nvCxnSpPr>
        <p:spPr>
          <a:xfrm flipH="1">
            <a:off x="4569691" y="3629789"/>
            <a:ext cx="35572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660E52-DE2A-22E6-EE9E-639CE4D20120}"/>
              </a:ext>
            </a:extLst>
          </p:cNvPr>
          <p:cNvCxnSpPr>
            <a:cxnSpLocks/>
          </p:cNvCxnSpPr>
          <p:nvPr/>
        </p:nvCxnSpPr>
        <p:spPr>
          <a:xfrm flipH="1">
            <a:off x="1035319" y="4384398"/>
            <a:ext cx="35343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8683C97-9020-A8A0-DC29-48E5F85ADB75}"/>
              </a:ext>
            </a:extLst>
          </p:cNvPr>
          <p:cNvSpPr txBox="1"/>
          <p:nvPr/>
        </p:nvSpPr>
        <p:spPr>
          <a:xfrm>
            <a:off x="1398707" y="1652642"/>
            <a:ext cx="2832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“What’s the weather in Chicago?”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6AD660-CA6B-1B11-5953-215909511F77}"/>
              </a:ext>
            </a:extLst>
          </p:cNvPr>
          <p:cNvSpPr txBox="1"/>
          <p:nvPr/>
        </p:nvSpPr>
        <p:spPr>
          <a:xfrm>
            <a:off x="4742699" y="3265430"/>
            <a:ext cx="3264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{”temperature”: 72, “weather”: “Sunny”}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9D3695-BC6D-E1B5-1D26-E7D2DF4C3CB6}"/>
              </a:ext>
            </a:extLst>
          </p:cNvPr>
          <p:cNvSpPr txBox="1"/>
          <p:nvPr/>
        </p:nvSpPr>
        <p:spPr>
          <a:xfrm>
            <a:off x="1483106" y="4030729"/>
            <a:ext cx="2858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It’s 50°F and rainy in Indianapolis.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DAC2A3F-1326-D093-6E81-F2877B2BF77E}"/>
              </a:ext>
            </a:extLst>
          </p:cNvPr>
          <p:cNvSpPr/>
          <p:nvPr/>
        </p:nvSpPr>
        <p:spPr>
          <a:xfrm rot="20734219">
            <a:off x="1110480" y="3527049"/>
            <a:ext cx="2386576" cy="3704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HALLUCINATION!!!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51051B54-F559-1F14-7AA6-1C0A1D09D770}"/>
              </a:ext>
            </a:extLst>
          </p:cNvPr>
          <p:cNvSpPr/>
          <p:nvPr/>
        </p:nvSpPr>
        <p:spPr>
          <a:xfrm>
            <a:off x="249612" y="778065"/>
            <a:ext cx="1571414" cy="582506"/>
          </a:xfrm>
          <a:prstGeom prst="roundRect">
            <a:avLst/>
          </a:prstGeom>
          <a:solidFill>
            <a:srgbClr val="0C447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36D4EF5A-1D3F-6111-B988-B8EC158DC05D}"/>
              </a:ext>
            </a:extLst>
          </p:cNvPr>
          <p:cNvSpPr/>
          <p:nvPr/>
        </p:nvSpPr>
        <p:spPr>
          <a:xfrm>
            <a:off x="3783984" y="778065"/>
            <a:ext cx="1571414" cy="582506"/>
          </a:xfrm>
          <a:prstGeom prst="roundRect">
            <a:avLst/>
          </a:prstGeom>
          <a:solidFill>
            <a:srgbClr val="3C348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LLM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352D53A4-2EA3-0396-5A87-D4D19A4CC374}"/>
              </a:ext>
            </a:extLst>
          </p:cNvPr>
          <p:cNvSpPr/>
          <p:nvPr/>
        </p:nvSpPr>
        <p:spPr>
          <a:xfrm>
            <a:off x="7318356" y="795614"/>
            <a:ext cx="1571414" cy="582506"/>
          </a:xfrm>
          <a:prstGeom prst="roundRect">
            <a:avLst/>
          </a:prstGeom>
          <a:solidFill>
            <a:srgbClr val="712A1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Tool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E81C852-389A-AC5E-A582-B17988347FAE}"/>
              </a:ext>
            </a:extLst>
          </p:cNvPr>
          <p:cNvCxnSpPr>
            <a:cxnSpLocks/>
          </p:cNvCxnSpPr>
          <p:nvPr/>
        </p:nvCxnSpPr>
        <p:spPr>
          <a:xfrm flipV="1">
            <a:off x="4592549" y="2753206"/>
            <a:ext cx="3534372" cy="155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C3D08C0-E1EB-8809-D5E4-CFC3B2DC80C2}"/>
              </a:ext>
            </a:extLst>
          </p:cNvPr>
          <p:cNvSpPr txBox="1"/>
          <p:nvPr/>
        </p:nvSpPr>
        <p:spPr>
          <a:xfrm>
            <a:off x="4810064" y="2445194"/>
            <a:ext cx="3076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get_weather(lat = 41.8, long = -87.6)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F130D5C-C9DB-60F9-3088-E15222BFB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799" y="1043736"/>
            <a:ext cx="1344803" cy="1433098"/>
          </a:xfrm>
          <a:prstGeom prst="rect">
            <a:avLst/>
          </a:prstGeom>
        </p:spPr>
      </p:pic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03A95F1-92D3-6ECE-E41B-4D4BE2427C61}"/>
              </a:ext>
            </a:extLst>
          </p:cNvPr>
          <p:cNvSpPr/>
          <p:nvPr/>
        </p:nvSpPr>
        <p:spPr>
          <a:xfrm>
            <a:off x="4930770" y="1720350"/>
            <a:ext cx="2962352" cy="3365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hlinkClick r:id="rId3"/>
              </a:rPr>
              <a:t>https://www.google.com/maps?q=41.8,-87.6</a:t>
            </a:r>
            <a:r>
              <a:rPr lang="en-US" sz="1100"/>
              <a:t> </a:t>
            </a:r>
          </a:p>
        </p:txBody>
      </p:sp>
      <p:pic>
        <p:nvPicPr>
          <p:cNvPr id="28" name="Graphic 27" descr="Magnifying glass with solid fill">
            <a:extLst>
              <a:ext uri="{FF2B5EF4-FFF2-40B4-BE49-F238E27FC236}">
                <a16:creationId xmlns:a16="http://schemas.microsoft.com/office/drawing/2014/main" id="{41E7E50F-139E-B949-4201-4AB6A44E03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5293151" y="1244077"/>
            <a:ext cx="477186" cy="455909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0D4AD84-2D9D-D62C-1574-BA58992EF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906026"/>
            <a:ext cx="2895600" cy="168934"/>
          </a:xfrm>
        </p:spPr>
        <p:txBody>
          <a:bodyPr/>
          <a:lstStyle/>
          <a:p>
            <a:r>
              <a:rPr lang="en-US"/>
              <a:t>Copyright © 2026 Eli Lilly and Company </a:t>
            </a:r>
          </a:p>
        </p:txBody>
      </p:sp>
    </p:spTree>
    <p:extLst>
      <p:ext uri="{BB962C8B-B14F-4D97-AF65-F5344CB8AC3E}">
        <p14:creationId xmlns:p14="http://schemas.microsoft.com/office/powerpoint/2010/main" val="2570824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1A04B-D272-F60F-707B-7799183CF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29A82-7232-85B1-604C-1BFE8E5C9E5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F61076C-79F6-4F04-9A42-761E8ADA4754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10503-7D68-7730-1FBC-D1574F986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C47640-ECEC-E34E-A5C6-81F2A80A839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8C5645-EF99-4777-397C-F4599968A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55" y="151757"/>
            <a:ext cx="8229600" cy="426720"/>
          </a:xfrm>
        </p:spPr>
        <p:txBody>
          <a:bodyPr>
            <a:noAutofit/>
          </a:bodyPr>
          <a:lstStyle/>
          <a:p>
            <a:r>
              <a:rPr lang="en-US" sz="2400"/>
              <a:t>Fix 2 of 3: bypass the LLM to report the weather.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24A5C20-FF0C-2268-8DE1-54C143C3E33B}"/>
              </a:ext>
            </a:extLst>
          </p:cNvPr>
          <p:cNvSpPr txBox="1">
            <a:spLocks/>
          </p:cNvSpPr>
          <p:nvPr/>
        </p:nvSpPr>
        <p:spPr bwMode="auto">
          <a:xfrm>
            <a:off x="457200" y="4905620"/>
            <a:ext cx="2133600" cy="160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0819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8163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22458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6327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040969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449163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2857357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265551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fld id="{DF61076C-79F6-4F04-9A42-761E8ADA4754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46A0477-849F-5DE8-D6A5-F6C2E86420A8}"/>
              </a:ext>
            </a:extLst>
          </p:cNvPr>
          <p:cNvSpPr txBox="1">
            <a:spLocks/>
          </p:cNvSpPr>
          <p:nvPr/>
        </p:nvSpPr>
        <p:spPr bwMode="auto">
          <a:xfrm>
            <a:off x="6553200" y="4906836"/>
            <a:ext cx="2133600" cy="185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0819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8163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22458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6327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040969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449163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2857357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265551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fld id="{64C47640-ECEC-E34E-A5C6-81F2A80A839B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CE0004-93DD-9163-4748-AD940AC407B8}"/>
              </a:ext>
            </a:extLst>
          </p:cNvPr>
          <p:cNvCxnSpPr>
            <a:cxnSpLocks/>
          </p:cNvCxnSpPr>
          <p:nvPr/>
        </p:nvCxnSpPr>
        <p:spPr>
          <a:xfrm flipH="1">
            <a:off x="1035319" y="1347279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DE33AA-D780-8AF6-D35F-A215FC44F2DF}"/>
              </a:ext>
            </a:extLst>
          </p:cNvPr>
          <p:cNvCxnSpPr>
            <a:cxnSpLocks/>
          </p:cNvCxnSpPr>
          <p:nvPr/>
        </p:nvCxnSpPr>
        <p:spPr>
          <a:xfrm flipH="1">
            <a:off x="4569691" y="1378120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53FACF-8F2D-65CB-D8D2-9258FF287B92}"/>
              </a:ext>
            </a:extLst>
          </p:cNvPr>
          <p:cNvCxnSpPr/>
          <p:nvPr/>
        </p:nvCxnSpPr>
        <p:spPr>
          <a:xfrm flipH="1">
            <a:off x="8126921" y="1368213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7A88A6-A2D3-206A-F3F3-8338686CB70E}"/>
              </a:ext>
            </a:extLst>
          </p:cNvPr>
          <p:cNvCxnSpPr>
            <a:cxnSpLocks/>
          </p:cNvCxnSpPr>
          <p:nvPr/>
        </p:nvCxnSpPr>
        <p:spPr>
          <a:xfrm>
            <a:off x="1035319" y="1960419"/>
            <a:ext cx="35343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B582BEB-35D8-8BAC-0A77-7E12FD9D911E}"/>
              </a:ext>
            </a:extLst>
          </p:cNvPr>
          <p:cNvSpPr txBox="1"/>
          <p:nvPr/>
        </p:nvSpPr>
        <p:spPr>
          <a:xfrm>
            <a:off x="1398707" y="1652642"/>
            <a:ext cx="2832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“What’s the weather in Chicago?”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80D96D-A0FE-E41B-694C-CB61B56E5D03}"/>
              </a:ext>
            </a:extLst>
          </p:cNvPr>
          <p:cNvSpPr txBox="1"/>
          <p:nvPr/>
        </p:nvSpPr>
        <p:spPr>
          <a:xfrm>
            <a:off x="4742699" y="3265428"/>
            <a:ext cx="3264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{”temperature”: 72, “weather”: “Sunny”}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321F574-79C8-03D6-914D-050DF5D8F2E0}"/>
              </a:ext>
            </a:extLst>
          </p:cNvPr>
          <p:cNvSpPr/>
          <p:nvPr/>
        </p:nvSpPr>
        <p:spPr>
          <a:xfrm>
            <a:off x="249612" y="778065"/>
            <a:ext cx="1571414" cy="582506"/>
          </a:xfrm>
          <a:prstGeom prst="roundRect">
            <a:avLst/>
          </a:prstGeom>
          <a:solidFill>
            <a:srgbClr val="0C447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A12A769-ED14-6FE3-7456-886033F8216B}"/>
              </a:ext>
            </a:extLst>
          </p:cNvPr>
          <p:cNvSpPr/>
          <p:nvPr/>
        </p:nvSpPr>
        <p:spPr>
          <a:xfrm>
            <a:off x="3783984" y="778065"/>
            <a:ext cx="1571414" cy="582506"/>
          </a:xfrm>
          <a:prstGeom prst="roundRect">
            <a:avLst/>
          </a:prstGeom>
          <a:solidFill>
            <a:srgbClr val="3C348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LLM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BBD82F2-4EDF-89FC-ED08-EC3620E7F676}"/>
              </a:ext>
            </a:extLst>
          </p:cNvPr>
          <p:cNvSpPr/>
          <p:nvPr/>
        </p:nvSpPr>
        <p:spPr>
          <a:xfrm>
            <a:off x="7318356" y="795614"/>
            <a:ext cx="1571414" cy="582506"/>
          </a:xfrm>
          <a:prstGeom prst="roundRect">
            <a:avLst/>
          </a:prstGeom>
          <a:solidFill>
            <a:srgbClr val="712A1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Tool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1082CB-1C7F-648A-F72F-8E8C7B7A3C3D}"/>
              </a:ext>
            </a:extLst>
          </p:cNvPr>
          <p:cNvCxnSpPr>
            <a:cxnSpLocks/>
          </p:cNvCxnSpPr>
          <p:nvPr/>
        </p:nvCxnSpPr>
        <p:spPr>
          <a:xfrm flipV="1">
            <a:off x="4592549" y="2753206"/>
            <a:ext cx="3534372" cy="155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BAA15AF-CA30-6CE3-2EB0-EE15214DAFC0}"/>
              </a:ext>
            </a:extLst>
          </p:cNvPr>
          <p:cNvSpPr txBox="1"/>
          <p:nvPr/>
        </p:nvSpPr>
        <p:spPr>
          <a:xfrm>
            <a:off x="4810064" y="2445194"/>
            <a:ext cx="3076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get_weather(lat = 41.8, long = -87.6)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9D7952-9FF1-7387-498F-A2A7A7D2B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799" y="1043736"/>
            <a:ext cx="1344803" cy="1433098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9BEB10-7A03-932E-3AB5-84B4F2E5EFDA}"/>
              </a:ext>
            </a:extLst>
          </p:cNvPr>
          <p:cNvSpPr/>
          <p:nvPr/>
        </p:nvSpPr>
        <p:spPr>
          <a:xfrm>
            <a:off x="4930770" y="1720350"/>
            <a:ext cx="2962352" cy="3365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hlinkClick r:id="rId3"/>
              </a:rPr>
              <a:t>https://www.google.com/maps?q=41.8,-87.6</a:t>
            </a:r>
            <a:r>
              <a:rPr lang="en-US" sz="1100"/>
              <a:t> </a:t>
            </a:r>
          </a:p>
        </p:txBody>
      </p:sp>
      <p:pic>
        <p:nvPicPr>
          <p:cNvPr id="12" name="Graphic 11" descr="Magnifying glass with solid fill">
            <a:extLst>
              <a:ext uri="{FF2B5EF4-FFF2-40B4-BE49-F238E27FC236}">
                <a16:creationId xmlns:a16="http://schemas.microsoft.com/office/drawing/2014/main" id="{0A5B15D0-5835-1871-DE26-EDC7C41A47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5293151" y="1244077"/>
            <a:ext cx="477186" cy="45590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4506CB3-901A-54BC-30CA-612BA1CFF5AB}"/>
              </a:ext>
            </a:extLst>
          </p:cNvPr>
          <p:cNvSpPr/>
          <p:nvPr/>
        </p:nvSpPr>
        <p:spPr>
          <a:xfrm>
            <a:off x="4360155" y="3543050"/>
            <a:ext cx="411038" cy="173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9B97BD-3F76-382B-0AE9-4E7E13A44CDD}"/>
              </a:ext>
            </a:extLst>
          </p:cNvPr>
          <p:cNvCxnSpPr>
            <a:cxnSpLocks/>
          </p:cNvCxnSpPr>
          <p:nvPr/>
        </p:nvCxnSpPr>
        <p:spPr>
          <a:xfrm flipH="1">
            <a:off x="1035319" y="3629787"/>
            <a:ext cx="709160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ight Bracket 21">
            <a:extLst>
              <a:ext uri="{FF2B5EF4-FFF2-40B4-BE49-F238E27FC236}">
                <a16:creationId xmlns:a16="http://schemas.microsoft.com/office/drawing/2014/main" id="{1B1C772C-842F-65ED-6EEB-2B09BA9E33F0}"/>
              </a:ext>
            </a:extLst>
          </p:cNvPr>
          <p:cNvSpPr/>
          <p:nvPr/>
        </p:nvSpPr>
        <p:spPr>
          <a:xfrm rot="5400000">
            <a:off x="4539432" y="3381014"/>
            <a:ext cx="69850" cy="269629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ket 24">
            <a:extLst>
              <a:ext uri="{FF2B5EF4-FFF2-40B4-BE49-F238E27FC236}">
                <a16:creationId xmlns:a16="http://schemas.microsoft.com/office/drawing/2014/main" id="{76BE881A-4289-F7A6-C9C4-32C2D855D8A9}"/>
              </a:ext>
            </a:extLst>
          </p:cNvPr>
          <p:cNvSpPr/>
          <p:nvPr/>
        </p:nvSpPr>
        <p:spPr>
          <a:xfrm rot="16200000">
            <a:off x="4545782" y="3615281"/>
            <a:ext cx="69850" cy="269629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137FDE2-8250-ED6C-B65C-72D7AA716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906026"/>
            <a:ext cx="2895600" cy="168934"/>
          </a:xfrm>
        </p:spPr>
        <p:txBody>
          <a:bodyPr/>
          <a:lstStyle/>
          <a:p>
            <a:r>
              <a:rPr lang="en-US"/>
              <a:t>Copyright © 2026 Eli Lilly and Company </a:t>
            </a:r>
          </a:p>
        </p:txBody>
      </p:sp>
    </p:spTree>
    <p:extLst>
      <p:ext uri="{BB962C8B-B14F-4D97-AF65-F5344CB8AC3E}">
        <p14:creationId xmlns:p14="http://schemas.microsoft.com/office/powerpoint/2010/main" val="4030691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C8D20-F519-F8E2-1562-3BCCB23A5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399E3-37E4-9891-C5E3-F2140836CBA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F61076C-79F6-4F04-9A42-761E8ADA4754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46F71-626C-9DD9-A2F0-98AABF77E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C47640-ECEC-E34E-A5C6-81F2A80A839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5D827-E8F8-C61F-3B42-33CF8264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98" y="151757"/>
            <a:ext cx="8972550" cy="426720"/>
          </a:xfrm>
        </p:spPr>
        <p:txBody>
          <a:bodyPr>
            <a:normAutofit fontScale="90000"/>
          </a:bodyPr>
          <a:lstStyle/>
          <a:p>
            <a:r>
              <a:rPr lang="en-US"/>
              <a:t>Beware untrusted tools! (Claude Code has many!)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FD080AD-48EA-7C53-6DC6-C193430E72C9}"/>
              </a:ext>
            </a:extLst>
          </p:cNvPr>
          <p:cNvSpPr txBox="1">
            <a:spLocks/>
          </p:cNvSpPr>
          <p:nvPr/>
        </p:nvSpPr>
        <p:spPr bwMode="auto">
          <a:xfrm>
            <a:off x="457200" y="4905620"/>
            <a:ext cx="2133600" cy="160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0819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8163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22458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6327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040969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449163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2857357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265551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fld id="{DF61076C-79F6-4F04-9A42-761E8ADA4754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8ABAC6A-3429-AC2F-B090-4DC93D24B899}"/>
              </a:ext>
            </a:extLst>
          </p:cNvPr>
          <p:cNvSpPr txBox="1">
            <a:spLocks/>
          </p:cNvSpPr>
          <p:nvPr/>
        </p:nvSpPr>
        <p:spPr bwMode="auto">
          <a:xfrm>
            <a:off x="6553200" y="4906836"/>
            <a:ext cx="2133600" cy="185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0819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8163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22458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6327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040969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449163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2857357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265551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fld id="{64C47640-ECEC-E34E-A5C6-81F2A80A839B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1E2A98-ACCB-9DCA-2204-69D95792F982}"/>
              </a:ext>
            </a:extLst>
          </p:cNvPr>
          <p:cNvCxnSpPr>
            <a:cxnSpLocks/>
          </p:cNvCxnSpPr>
          <p:nvPr/>
        </p:nvCxnSpPr>
        <p:spPr>
          <a:xfrm flipH="1">
            <a:off x="1035319" y="1347279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9E48B0-678F-3CB8-B820-863A419D43C3}"/>
              </a:ext>
            </a:extLst>
          </p:cNvPr>
          <p:cNvCxnSpPr>
            <a:cxnSpLocks/>
          </p:cNvCxnSpPr>
          <p:nvPr/>
        </p:nvCxnSpPr>
        <p:spPr>
          <a:xfrm flipH="1">
            <a:off x="4569691" y="1378120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F48098-5048-AF1D-0344-F639D4BF6285}"/>
              </a:ext>
            </a:extLst>
          </p:cNvPr>
          <p:cNvCxnSpPr/>
          <p:nvPr/>
        </p:nvCxnSpPr>
        <p:spPr>
          <a:xfrm flipH="1">
            <a:off x="8126921" y="1368213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3D6C9C7-525C-2F4D-9B18-570736995A8E}"/>
              </a:ext>
            </a:extLst>
          </p:cNvPr>
          <p:cNvCxnSpPr>
            <a:cxnSpLocks/>
          </p:cNvCxnSpPr>
          <p:nvPr/>
        </p:nvCxnSpPr>
        <p:spPr>
          <a:xfrm>
            <a:off x="1035319" y="1960419"/>
            <a:ext cx="35343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C3A55A1-F3C2-E57F-EA1E-507D414799D7}"/>
              </a:ext>
            </a:extLst>
          </p:cNvPr>
          <p:cNvSpPr txBox="1"/>
          <p:nvPr/>
        </p:nvSpPr>
        <p:spPr>
          <a:xfrm>
            <a:off x="1398707" y="1652642"/>
            <a:ext cx="2832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“What’s the weather in Chicago?”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2055D0-839E-6D74-405E-F44592F7AA44}"/>
              </a:ext>
            </a:extLst>
          </p:cNvPr>
          <p:cNvSpPr txBox="1"/>
          <p:nvPr/>
        </p:nvSpPr>
        <p:spPr>
          <a:xfrm>
            <a:off x="4742699" y="3265428"/>
            <a:ext cx="3264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{”temperature”: 72, “weather”: “Sunny”}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24001DA-4895-5CBD-0838-F12ACA1E6757}"/>
              </a:ext>
            </a:extLst>
          </p:cNvPr>
          <p:cNvSpPr/>
          <p:nvPr/>
        </p:nvSpPr>
        <p:spPr>
          <a:xfrm>
            <a:off x="249612" y="778065"/>
            <a:ext cx="1571414" cy="582506"/>
          </a:xfrm>
          <a:prstGeom prst="roundRect">
            <a:avLst/>
          </a:prstGeom>
          <a:solidFill>
            <a:srgbClr val="0C447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B075395-3BE1-F679-B20E-3A10B8DD4160}"/>
              </a:ext>
            </a:extLst>
          </p:cNvPr>
          <p:cNvSpPr/>
          <p:nvPr/>
        </p:nvSpPr>
        <p:spPr>
          <a:xfrm>
            <a:off x="3783984" y="778065"/>
            <a:ext cx="1571414" cy="582506"/>
          </a:xfrm>
          <a:prstGeom prst="roundRect">
            <a:avLst/>
          </a:prstGeom>
          <a:solidFill>
            <a:srgbClr val="3C348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LLM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B797D98C-258A-3391-03AC-033B60B49831}"/>
              </a:ext>
            </a:extLst>
          </p:cNvPr>
          <p:cNvSpPr/>
          <p:nvPr/>
        </p:nvSpPr>
        <p:spPr>
          <a:xfrm>
            <a:off x="7318356" y="795614"/>
            <a:ext cx="1571414" cy="582506"/>
          </a:xfrm>
          <a:prstGeom prst="roundRect">
            <a:avLst/>
          </a:prstGeom>
          <a:solidFill>
            <a:srgbClr val="712A1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Tool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1BCACCA-DFBE-9218-3E8E-BA3C86D1BA05}"/>
              </a:ext>
            </a:extLst>
          </p:cNvPr>
          <p:cNvCxnSpPr>
            <a:cxnSpLocks/>
          </p:cNvCxnSpPr>
          <p:nvPr/>
        </p:nvCxnSpPr>
        <p:spPr>
          <a:xfrm flipV="1">
            <a:off x="4592549" y="2753206"/>
            <a:ext cx="3534372" cy="155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88F8779-7A0A-8DD8-711F-5A87E9C75D98}"/>
              </a:ext>
            </a:extLst>
          </p:cNvPr>
          <p:cNvSpPr/>
          <p:nvPr/>
        </p:nvSpPr>
        <p:spPr>
          <a:xfrm>
            <a:off x="4360155" y="3543050"/>
            <a:ext cx="411038" cy="173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11D4AE-6F76-53E5-6B51-B8547E05BE32}"/>
              </a:ext>
            </a:extLst>
          </p:cNvPr>
          <p:cNvCxnSpPr>
            <a:cxnSpLocks/>
          </p:cNvCxnSpPr>
          <p:nvPr/>
        </p:nvCxnSpPr>
        <p:spPr>
          <a:xfrm flipH="1">
            <a:off x="1035319" y="3629787"/>
            <a:ext cx="709160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ight Bracket 21">
            <a:extLst>
              <a:ext uri="{FF2B5EF4-FFF2-40B4-BE49-F238E27FC236}">
                <a16:creationId xmlns:a16="http://schemas.microsoft.com/office/drawing/2014/main" id="{6EB730CA-D483-C432-6B24-EB03731DA61C}"/>
              </a:ext>
            </a:extLst>
          </p:cNvPr>
          <p:cNvSpPr/>
          <p:nvPr/>
        </p:nvSpPr>
        <p:spPr>
          <a:xfrm rot="5400000">
            <a:off x="4539432" y="3381014"/>
            <a:ext cx="69850" cy="269629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ket 24">
            <a:extLst>
              <a:ext uri="{FF2B5EF4-FFF2-40B4-BE49-F238E27FC236}">
                <a16:creationId xmlns:a16="http://schemas.microsoft.com/office/drawing/2014/main" id="{7844B76D-DC99-7D88-79DA-06C242864636}"/>
              </a:ext>
            </a:extLst>
          </p:cNvPr>
          <p:cNvSpPr/>
          <p:nvPr/>
        </p:nvSpPr>
        <p:spPr>
          <a:xfrm rot="16200000">
            <a:off x="4545782" y="3615281"/>
            <a:ext cx="69850" cy="269629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5B9FF-525D-A17E-2629-DE46BEBB3BCD}"/>
              </a:ext>
            </a:extLst>
          </p:cNvPr>
          <p:cNvSpPr txBox="1"/>
          <p:nvPr/>
        </p:nvSpPr>
        <p:spPr>
          <a:xfrm>
            <a:off x="5040035" y="2191348"/>
            <a:ext cx="2577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Write(“post_fake_weather.sh”)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FE217-C2E3-80F7-4A99-1E342B18B689}"/>
              </a:ext>
            </a:extLst>
          </p:cNvPr>
          <p:cNvSpPr txBox="1"/>
          <p:nvPr/>
        </p:nvSpPr>
        <p:spPr>
          <a:xfrm>
            <a:off x="5043208" y="2444940"/>
            <a:ext cx="2571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Bash(“post_fake_weather.sh”)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ED419F4-16F7-0670-0E83-8DD70A42D864}"/>
              </a:ext>
            </a:extLst>
          </p:cNvPr>
          <p:cNvSpPr/>
          <p:nvPr/>
        </p:nvSpPr>
        <p:spPr>
          <a:xfrm rot="20734219">
            <a:off x="4817452" y="1675217"/>
            <a:ext cx="2386576" cy="3704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HALLUCINATION!!!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33C0F73-8D3D-28C6-8F15-6FCFF656DE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906026"/>
            <a:ext cx="2895600" cy="168934"/>
          </a:xfrm>
        </p:spPr>
        <p:txBody>
          <a:bodyPr/>
          <a:lstStyle/>
          <a:p>
            <a:r>
              <a:rPr lang="en-US"/>
              <a:t>Copyright © 2026 Eli Lilly and Company </a:t>
            </a:r>
          </a:p>
        </p:txBody>
      </p:sp>
    </p:spTree>
    <p:extLst>
      <p:ext uri="{BB962C8B-B14F-4D97-AF65-F5344CB8AC3E}">
        <p14:creationId xmlns:p14="http://schemas.microsoft.com/office/powerpoint/2010/main" val="1532860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53AB9-A1A2-A50C-7FD6-D4194D729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A175C-257C-CE87-5E8C-D68887C4E5B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F61076C-79F6-4F04-9A42-761E8ADA4754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04D9D-8655-F4C8-A6F9-E60D0ED9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4C47640-ECEC-E34E-A5C6-81F2A80A839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E8F833-91AC-1805-09A3-3A48E0DD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12" y="145352"/>
            <a:ext cx="8489352" cy="426720"/>
          </a:xfrm>
        </p:spPr>
        <p:txBody>
          <a:bodyPr>
            <a:noAutofit/>
          </a:bodyPr>
          <a:lstStyle/>
          <a:p>
            <a:r>
              <a:rPr lang="en-US" sz="2400"/>
              <a:t>Fix 3 of 3: never bypass the get_weather() tool.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101B3CB-3350-48D8-AFE3-B05EC5721BCA}"/>
              </a:ext>
            </a:extLst>
          </p:cNvPr>
          <p:cNvSpPr txBox="1">
            <a:spLocks/>
          </p:cNvSpPr>
          <p:nvPr/>
        </p:nvSpPr>
        <p:spPr bwMode="auto">
          <a:xfrm>
            <a:off x="457200" y="4905620"/>
            <a:ext cx="2133600" cy="160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0819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8163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22458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6327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040969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449163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2857357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265551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fld id="{DF61076C-79F6-4F04-9A42-761E8ADA4754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98E805B-8853-1EFA-AB66-1E0F15DFD45D}"/>
              </a:ext>
            </a:extLst>
          </p:cNvPr>
          <p:cNvSpPr txBox="1">
            <a:spLocks/>
          </p:cNvSpPr>
          <p:nvPr/>
        </p:nvSpPr>
        <p:spPr bwMode="auto">
          <a:xfrm>
            <a:off x="6553200" y="4906836"/>
            <a:ext cx="2133600" cy="185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1639" tIns="40819" rIns="81639" bIns="40819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1pPr>
            <a:lvl2pPr marL="40819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2pPr>
            <a:lvl3pPr marL="8163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3pPr>
            <a:lvl4pPr marL="122458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4pPr>
            <a:lvl5pPr marL="16327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5pPr>
            <a:lvl6pPr marL="2040969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6pPr>
            <a:lvl7pPr marL="2449163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7pPr>
            <a:lvl8pPr marL="2857357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8pPr>
            <a:lvl9pPr marL="3265551" algn="l" defTabSz="40819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 charset="0"/>
                <a:cs typeface="+mn-cs"/>
              </a:defRPr>
            </a:lvl9pPr>
          </a:lstStyle>
          <a:p>
            <a:fld id="{64C47640-ECEC-E34E-A5C6-81F2A80A839B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1ED800-78E4-3686-C6B7-62C2154EDAD7}"/>
              </a:ext>
            </a:extLst>
          </p:cNvPr>
          <p:cNvCxnSpPr>
            <a:cxnSpLocks/>
          </p:cNvCxnSpPr>
          <p:nvPr/>
        </p:nvCxnSpPr>
        <p:spPr>
          <a:xfrm flipH="1">
            <a:off x="1035319" y="1347279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A9BB143-55BF-8752-FB77-124F4C0FE80C}"/>
              </a:ext>
            </a:extLst>
          </p:cNvPr>
          <p:cNvCxnSpPr>
            <a:cxnSpLocks/>
          </p:cNvCxnSpPr>
          <p:nvPr/>
        </p:nvCxnSpPr>
        <p:spPr>
          <a:xfrm flipH="1">
            <a:off x="4569691" y="1378120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523468-4B32-2BE7-2C6B-6C299087EE0D}"/>
              </a:ext>
            </a:extLst>
          </p:cNvPr>
          <p:cNvCxnSpPr/>
          <p:nvPr/>
        </p:nvCxnSpPr>
        <p:spPr>
          <a:xfrm flipH="1">
            <a:off x="8126921" y="1368213"/>
            <a:ext cx="2309" cy="34254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3E215F-DE58-C692-76F8-57F568A9B9E2}"/>
              </a:ext>
            </a:extLst>
          </p:cNvPr>
          <p:cNvCxnSpPr>
            <a:cxnSpLocks/>
          </p:cNvCxnSpPr>
          <p:nvPr/>
        </p:nvCxnSpPr>
        <p:spPr>
          <a:xfrm>
            <a:off x="1035319" y="1960419"/>
            <a:ext cx="35343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13CF07C-5EA7-2789-2F7D-C02EBD1D7584}"/>
              </a:ext>
            </a:extLst>
          </p:cNvPr>
          <p:cNvSpPr txBox="1"/>
          <p:nvPr/>
        </p:nvSpPr>
        <p:spPr>
          <a:xfrm>
            <a:off x="1398707" y="1652642"/>
            <a:ext cx="2832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“What’s the weather in Chicago?”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C81053-CAD4-DF65-64E6-7BC252B90061}"/>
              </a:ext>
            </a:extLst>
          </p:cNvPr>
          <p:cNvSpPr txBox="1"/>
          <p:nvPr/>
        </p:nvSpPr>
        <p:spPr>
          <a:xfrm>
            <a:off x="4742699" y="3265429"/>
            <a:ext cx="3264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{”temperature”: 72, “weather”: “Sunny”}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758018E-A455-E49E-D8A4-1D6A311F472B}"/>
              </a:ext>
            </a:extLst>
          </p:cNvPr>
          <p:cNvSpPr/>
          <p:nvPr/>
        </p:nvSpPr>
        <p:spPr>
          <a:xfrm>
            <a:off x="249612" y="778065"/>
            <a:ext cx="1571414" cy="582506"/>
          </a:xfrm>
          <a:prstGeom prst="roundRect">
            <a:avLst/>
          </a:prstGeom>
          <a:solidFill>
            <a:srgbClr val="0C447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B4400F1-BDE8-C970-31A0-7B3353D0D11C}"/>
              </a:ext>
            </a:extLst>
          </p:cNvPr>
          <p:cNvSpPr/>
          <p:nvPr/>
        </p:nvSpPr>
        <p:spPr>
          <a:xfrm>
            <a:off x="3783984" y="778065"/>
            <a:ext cx="1571414" cy="582506"/>
          </a:xfrm>
          <a:prstGeom prst="roundRect">
            <a:avLst/>
          </a:prstGeom>
          <a:solidFill>
            <a:srgbClr val="3C348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LLM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E65B624-23E9-038E-A677-B3E9CBFD621C}"/>
              </a:ext>
            </a:extLst>
          </p:cNvPr>
          <p:cNvSpPr/>
          <p:nvPr/>
        </p:nvSpPr>
        <p:spPr>
          <a:xfrm>
            <a:off x="7318356" y="795614"/>
            <a:ext cx="1571414" cy="582506"/>
          </a:xfrm>
          <a:prstGeom prst="roundRect">
            <a:avLst/>
          </a:prstGeom>
          <a:solidFill>
            <a:srgbClr val="712A1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Tool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BF7D5CD-9F93-6069-1A16-ADB2648BB8DF}"/>
              </a:ext>
            </a:extLst>
          </p:cNvPr>
          <p:cNvCxnSpPr>
            <a:cxnSpLocks/>
          </p:cNvCxnSpPr>
          <p:nvPr/>
        </p:nvCxnSpPr>
        <p:spPr>
          <a:xfrm flipV="1">
            <a:off x="4592549" y="2753206"/>
            <a:ext cx="3534372" cy="155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F944596-E933-F598-93DC-4375FC92A8EB}"/>
              </a:ext>
            </a:extLst>
          </p:cNvPr>
          <p:cNvSpPr txBox="1"/>
          <p:nvPr/>
        </p:nvSpPr>
        <p:spPr>
          <a:xfrm>
            <a:off x="4810064" y="2445194"/>
            <a:ext cx="3076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get_weather(lat = 41.8, long = -87.6)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FB0BC9E-2A3C-F65A-07C4-9753549687E4}"/>
              </a:ext>
            </a:extLst>
          </p:cNvPr>
          <p:cNvCxnSpPr>
            <a:cxnSpLocks/>
          </p:cNvCxnSpPr>
          <p:nvPr/>
        </p:nvCxnSpPr>
        <p:spPr>
          <a:xfrm flipV="1">
            <a:off x="4592549" y="4259709"/>
            <a:ext cx="3534372" cy="155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2AF5189-F879-62C4-4380-16F4238A25C1}"/>
              </a:ext>
            </a:extLst>
          </p:cNvPr>
          <p:cNvCxnSpPr>
            <a:cxnSpLocks/>
          </p:cNvCxnSpPr>
          <p:nvPr/>
        </p:nvCxnSpPr>
        <p:spPr>
          <a:xfrm flipH="1" flipV="1">
            <a:off x="1035319" y="4611713"/>
            <a:ext cx="3534372" cy="17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No sign with solid fill">
            <a:extLst>
              <a:ext uri="{FF2B5EF4-FFF2-40B4-BE49-F238E27FC236}">
                <a16:creationId xmlns:a16="http://schemas.microsoft.com/office/drawing/2014/main" id="{4CA9396A-68AE-77D0-5FB2-CCD4209B7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9951" y="3800738"/>
            <a:ext cx="914400" cy="914400"/>
          </a:xfrm>
          <a:prstGeom prst="rect">
            <a:avLst/>
          </a:prstGeom>
        </p:spPr>
      </p:pic>
      <p:pic>
        <p:nvPicPr>
          <p:cNvPr id="38" name="Graphic 37" descr="No sign with solid fill">
            <a:extLst>
              <a:ext uri="{FF2B5EF4-FFF2-40B4-BE49-F238E27FC236}">
                <a16:creationId xmlns:a16="http://schemas.microsoft.com/office/drawing/2014/main" id="{B42B9B94-B8E5-5ED0-12D6-D81EFDC3CC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74606" y="4155136"/>
            <a:ext cx="914400" cy="9144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BC68269-781D-DCE2-C68E-A33A156C6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799" y="1043736"/>
            <a:ext cx="1344803" cy="1433098"/>
          </a:xfrm>
          <a:prstGeom prst="rect">
            <a:avLst/>
          </a:prstGeom>
        </p:spPr>
      </p:pic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A648622-C78E-00EF-EE40-93F6C5B25D63}"/>
              </a:ext>
            </a:extLst>
          </p:cNvPr>
          <p:cNvSpPr/>
          <p:nvPr/>
        </p:nvSpPr>
        <p:spPr>
          <a:xfrm>
            <a:off x="4930770" y="1720350"/>
            <a:ext cx="2962352" cy="3365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hlinkClick r:id="rId4"/>
              </a:rPr>
              <a:t>https://www.google.com/maps?q=41.8,-87.6</a:t>
            </a:r>
            <a:r>
              <a:rPr lang="en-US" sz="1100"/>
              <a:t> </a:t>
            </a:r>
          </a:p>
        </p:txBody>
      </p:sp>
      <p:pic>
        <p:nvPicPr>
          <p:cNvPr id="41" name="Graphic 40" descr="Magnifying glass with solid fill">
            <a:extLst>
              <a:ext uri="{FF2B5EF4-FFF2-40B4-BE49-F238E27FC236}">
                <a16:creationId xmlns:a16="http://schemas.microsoft.com/office/drawing/2014/main" id="{915ABA9E-29A5-E7F3-A5FC-F72987630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293151" y="1244077"/>
            <a:ext cx="477186" cy="45590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1D10C239-3229-28F6-6231-557D1C595053}"/>
              </a:ext>
            </a:extLst>
          </p:cNvPr>
          <p:cNvSpPr/>
          <p:nvPr/>
        </p:nvSpPr>
        <p:spPr>
          <a:xfrm>
            <a:off x="4360155" y="3543050"/>
            <a:ext cx="411038" cy="173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Bracket 42">
            <a:extLst>
              <a:ext uri="{FF2B5EF4-FFF2-40B4-BE49-F238E27FC236}">
                <a16:creationId xmlns:a16="http://schemas.microsoft.com/office/drawing/2014/main" id="{38FC88A0-B44D-458F-E5B5-5DD99D8F6F3B}"/>
              </a:ext>
            </a:extLst>
          </p:cNvPr>
          <p:cNvSpPr/>
          <p:nvPr/>
        </p:nvSpPr>
        <p:spPr>
          <a:xfrm rot="5400000">
            <a:off x="4539432" y="3381014"/>
            <a:ext cx="69850" cy="269629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Bracket 43">
            <a:extLst>
              <a:ext uri="{FF2B5EF4-FFF2-40B4-BE49-F238E27FC236}">
                <a16:creationId xmlns:a16="http://schemas.microsoft.com/office/drawing/2014/main" id="{0F06B9E0-EB40-0E77-0D8B-E7EB805920BE}"/>
              </a:ext>
            </a:extLst>
          </p:cNvPr>
          <p:cNvSpPr/>
          <p:nvPr/>
        </p:nvSpPr>
        <p:spPr>
          <a:xfrm rot="16200000">
            <a:off x="4545782" y="3615281"/>
            <a:ext cx="69850" cy="269629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E7D151-5E27-1FAD-17B5-EEA6CDC94D07}"/>
              </a:ext>
            </a:extLst>
          </p:cNvPr>
          <p:cNvCxnSpPr>
            <a:cxnSpLocks/>
          </p:cNvCxnSpPr>
          <p:nvPr/>
        </p:nvCxnSpPr>
        <p:spPr>
          <a:xfrm flipH="1">
            <a:off x="1035319" y="3629788"/>
            <a:ext cx="709160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992951C-2402-B548-2D7E-614C23BDE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906026"/>
            <a:ext cx="2895600" cy="168934"/>
          </a:xfrm>
        </p:spPr>
        <p:txBody>
          <a:bodyPr/>
          <a:lstStyle/>
          <a:p>
            <a:r>
              <a:rPr lang="en-US"/>
              <a:t>Copyright © 2026 Eli Lilly and Company </a:t>
            </a:r>
          </a:p>
        </p:txBody>
      </p:sp>
    </p:spTree>
    <p:extLst>
      <p:ext uri="{BB962C8B-B14F-4D97-AF65-F5344CB8AC3E}">
        <p14:creationId xmlns:p14="http://schemas.microsoft.com/office/powerpoint/2010/main" val="3179246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D70D-9C92-93C1-D5C1-9772E721A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A6FD0-9CD3-D7A7-8D78-D4C19F1E9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06898"/>
            <a:ext cx="9143999" cy="564852"/>
          </a:xfrm>
        </p:spPr>
        <p:txBody>
          <a:bodyPr>
            <a:normAutofit fontScale="90000"/>
          </a:bodyPr>
          <a:lstStyle/>
          <a:p>
            <a:r>
              <a:rPr lang="en-US"/>
              <a:t>Trusted mini-agents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9A391E-A78F-11BA-BBCD-71A72D8293D8}"/>
              </a:ext>
            </a:extLst>
          </p:cNvPr>
          <p:cNvSpPr/>
          <p:nvPr/>
        </p:nvSpPr>
        <p:spPr>
          <a:xfrm>
            <a:off x="6309360" y="3742509"/>
            <a:ext cx="2664823" cy="1345474"/>
          </a:xfrm>
          <a:prstGeom prst="rect">
            <a:avLst/>
          </a:prstGeom>
          <a:solidFill>
            <a:srgbClr val="D52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53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61185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trusted mini-agent?</a:t>
            </a:r>
            <a:endParaRPr lang="en-US" sz="27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15D502-1515-C8E6-1617-4D2F0E2DF447}"/>
              </a:ext>
            </a:extLst>
          </p:cNvPr>
          <p:cNvSpPr txBox="1"/>
          <p:nvPr/>
        </p:nvSpPr>
        <p:spPr>
          <a:xfrm>
            <a:off x="164306" y="948547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A least-privilege AI agent that engineers out hallucinations.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FD6C51-E1CA-457F-2190-394A40CD8802}"/>
              </a:ext>
            </a:extLst>
          </p:cNvPr>
          <p:cNvSpPr txBox="1"/>
          <p:nvPr/>
        </p:nvSpPr>
        <p:spPr>
          <a:xfrm>
            <a:off x="389238" y="2131485"/>
            <a:ext cx="705318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1. Trusted tools directly produce all results.</a:t>
            </a:r>
            <a:endParaRPr lang="en-US" sz="2400">
              <a:cs typeface="Arial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C8CF83-9FD5-844D-D5F0-AF31BA882435}"/>
              </a:ext>
            </a:extLst>
          </p:cNvPr>
          <p:cNvSpPr txBox="1"/>
          <p:nvPr/>
        </p:nvSpPr>
        <p:spPr>
          <a:xfrm>
            <a:off x="392269" y="2632980"/>
            <a:ext cx="69026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2. Each result only comes from one trusted tool.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3ED3F8-2775-1B4B-043C-70EB5F53A9BA}"/>
              </a:ext>
            </a:extLst>
          </p:cNvPr>
          <p:cNvSpPr txBox="1"/>
          <p:nvPr/>
        </p:nvSpPr>
        <p:spPr>
          <a:xfrm>
            <a:off x="382095" y="3107481"/>
            <a:ext cx="826314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latin typeface="Arial"/>
                <a:cs typeface="Arial"/>
              </a:rPr>
              <a:t>3. </a:t>
            </a:r>
            <a:r>
              <a:rPr lang="en-US" sz="2400">
                <a:cs typeface="Arial"/>
              </a:rPr>
              <a:t>Inputs to trusted tools have trusted human oversight.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61D3AF-2EE9-5E7A-852F-0E3ADBCB9EAD}"/>
              </a:ext>
            </a:extLst>
          </p:cNvPr>
          <p:cNvSpPr txBox="1"/>
          <p:nvPr/>
        </p:nvSpPr>
        <p:spPr>
          <a:xfrm>
            <a:off x="110966" y="1676863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3 rules: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C825E-AD1E-F169-A947-3DE739FCAF5D}"/>
              </a:ext>
            </a:extLst>
          </p:cNvPr>
          <p:cNvSpPr txBox="1"/>
          <p:nvPr/>
        </p:nvSpPr>
        <p:spPr>
          <a:xfrm>
            <a:off x="11753" y="3768393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The core idea: AI operates where:</a:t>
            </a:r>
          </a:p>
          <a:p>
            <a:pPr marL="865394" lvl="1" indent="-457200">
              <a:buFont typeface="Arial" panose="020B0604020202020204" pitchFamily="34" charset="0"/>
              <a:buChar char="•"/>
            </a:pPr>
            <a:r>
              <a:rPr lang="en-US" sz="2400"/>
              <a:t>An LLM proposes solutions better than a human.</a:t>
            </a:r>
          </a:p>
          <a:p>
            <a:pPr marL="865394" lvl="1" indent="-457200">
              <a:buFont typeface="Arial" panose="020B0604020202020204" pitchFamily="34" charset="0"/>
              <a:buChar char="•"/>
            </a:pPr>
            <a:r>
              <a:rPr lang="en-US" sz="2400"/>
              <a:t>A human easily checks those solutions.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0" grpId="0"/>
      <p:bldP spid="51" grpId="0"/>
      <p:bldP spid="52" grpId="0"/>
      <p:bldP spid="53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81ED-7700-F61C-BA2E-4C96562D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06B8B7-94DB-2FE3-1DAD-2D3A66F17D1D}"/>
              </a:ext>
            </a:extLst>
          </p:cNvPr>
          <p:cNvSpPr/>
          <p:nvPr/>
        </p:nvSpPr>
        <p:spPr>
          <a:xfrm>
            <a:off x="342900" y="161185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/>
                <a:cs typeface="Arial"/>
              </a:rPr>
              <a:t>The 3 rules in the weather example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EAE1A8-36AF-C970-B570-0B28D0192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5395"/>
              </p:ext>
            </p:extLst>
          </p:nvPr>
        </p:nvGraphicFramePr>
        <p:xfrm>
          <a:off x="81631" y="1494728"/>
          <a:ext cx="8896114" cy="15293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71775">
                  <a:extLst>
                    <a:ext uri="{9D8B030D-6E8A-4147-A177-3AD203B41FA5}">
                      <a16:colId xmlns:a16="http://schemas.microsoft.com/office/drawing/2014/main" val="1438991547"/>
                    </a:ext>
                  </a:extLst>
                </a:gridCol>
                <a:gridCol w="3724339">
                  <a:extLst>
                    <a:ext uri="{9D8B030D-6E8A-4147-A177-3AD203B41FA5}">
                      <a16:colId xmlns:a16="http://schemas.microsoft.com/office/drawing/2014/main" val="3738769362"/>
                    </a:ext>
                  </a:extLst>
                </a:gridCol>
              </a:tblGrid>
              <a:tr h="432486">
                <a:tc>
                  <a:txBody>
                    <a:bodyPr/>
                    <a:lstStyle/>
                    <a:p>
                      <a:r>
                        <a:rPr lang="en-US" sz="1600"/>
                        <a:t>Trusted mini-agent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Weather app 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431198"/>
                  </a:ext>
                </a:extLst>
              </a:tr>
              <a:tr h="2380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</a:rPr>
                        <a:t>1. </a:t>
                      </a:r>
                      <a:r>
                        <a:rPr lang="en-US" sz="1600">
                          <a:latin typeface="+mn-lt"/>
                          <a:cs typeface="Arial"/>
                        </a:rPr>
                        <a:t>Trusted tools directly produce all results.</a:t>
                      </a:r>
                      <a:endParaRPr lang="en-US" sz="16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latin typeface="Arial"/>
                          <a:cs typeface="Arial"/>
                        </a:rPr>
                        <a:t>Bypass the LLM to report the weather. 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80137"/>
                  </a:ext>
                </a:extLst>
              </a:tr>
              <a:tr h="290144">
                <a:tc>
                  <a:txBody>
                    <a:bodyPr/>
                    <a:lstStyle/>
                    <a:p>
                      <a:r>
                        <a:rPr lang="en-US" sz="1600"/>
                        <a:t>2. </a:t>
                      </a:r>
                      <a:r>
                        <a:rPr lang="en-US" sz="1600">
                          <a:latin typeface="+mn-lt"/>
                          <a:cs typeface="Arial"/>
                        </a:rPr>
                        <a:t>Each result only comes from one trusted tool.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Never bypass the get_weather() tool.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595850"/>
                  </a:ext>
                </a:extLst>
              </a:tr>
              <a:tr h="426343">
                <a:tc>
                  <a:txBody>
                    <a:bodyPr/>
                    <a:lstStyle/>
                    <a:p>
                      <a:pPr marL="0" marR="0" lvl="0" indent="0" algn="l" defTabSz="8163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</a:t>
                      </a:r>
                      <a:r>
                        <a:rPr lang="en-US" sz="1600">
                          <a:cs typeface="Arial"/>
                        </a:rPr>
                        <a:t>Inputs to trusted tools have trusted human oversight.</a:t>
                      </a:r>
                      <a:endParaRPr lang="en-US" sz="1600">
                        <a:latin typeface="+mn-lt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Help the human review the location.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695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790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ACFD8-2FE3-3098-F69D-0B2EF9DD3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CDD6A4-05D3-A81B-CA39-ECCB5CE7C62E}"/>
              </a:ext>
            </a:extLst>
          </p:cNvPr>
          <p:cNvSpPr/>
          <p:nvPr/>
        </p:nvSpPr>
        <p:spPr>
          <a:xfrm>
            <a:off x="342900" y="105336"/>
            <a:ext cx="8435340" cy="54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/>
                <a:cs typeface="Arial"/>
              </a:rPr>
              <a:t>A trusted mini-agent is a bijective function.</a:t>
            </a:r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C34FA05-57D9-E536-4A2A-F561F5E71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679" y="736136"/>
            <a:ext cx="4040208" cy="1243141"/>
          </a:xfrm>
          <a:prstGeom prst="rect">
            <a:avLst/>
          </a:prstGeom>
        </p:spPr>
      </p:pic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55C8B86-A69D-57DE-00CF-A6F160A4A63D}"/>
              </a:ext>
            </a:extLst>
          </p:cNvPr>
          <p:cNvSpPr/>
          <p:nvPr/>
        </p:nvSpPr>
        <p:spPr>
          <a:xfrm>
            <a:off x="778934" y="2185118"/>
            <a:ext cx="2876252" cy="1510125"/>
          </a:xfrm>
          <a:prstGeom prst="roundRect">
            <a:avLst>
              <a:gd name="adj" fmla="val 6000"/>
            </a:avLst>
          </a:prstGeom>
          <a:solidFill>
            <a:srgbClr val="DD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43B3DEA-B303-D64B-89EE-03BA38CC4965}"/>
              </a:ext>
            </a:extLst>
          </p:cNvPr>
          <p:cNvSpPr/>
          <p:nvPr/>
        </p:nvSpPr>
        <p:spPr>
          <a:xfrm>
            <a:off x="1135743" y="2628353"/>
            <a:ext cx="2230098" cy="315468"/>
          </a:xfrm>
          <a:prstGeom prst="roundRect">
            <a:avLst>
              <a:gd name="adj" fmla="val 18000"/>
            </a:avLst>
          </a:prstGeom>
          <a:solidFill>
            <a:srgbClr val="145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291D7D-B1ED-5BFB-2AB4-0B902D7A1F5A}"/>
              </a:ext>
            </a:extLst>
          </p:cNvPr>
          <p:cNvSpPr txBox="1"/>
          <p:nvPr/>
        </p:nvSpPr>
        <p:spPr>
          <a:xfrm>
            <a:off x="1135743" y="2632199"/>
            <a:ext cx="191559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000" b="1">
                <a:solidFill>
                  <a:srgbClr val="DDEBF4"/>
                </a:solidFill>
                <a:latin typeface="Calibri"/>
              </a:rPr>
              <a:t>    get_weather()</a:t>
            </a:r>
            <a:endParaRPr sz="2000" b="1">
              <a:solidFill>
                <a:srgbClr val="DDEBF4"/>
              </a:solidFill>
              <a:latin typeface="Calibri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6CB377F-FFE2-DD97-CFD3-8C6C9F41FACE}"/>
              </a:ext>
            </a:extLst>
          </p:cNvPr>
          <p:cNvSpPr/>
          <p:nvPr/>
        </p:nvSpPr>
        <p:spPr>
          <a:xfrm>
            <a:off x="4453467" y="2160298"/>
            <a:ext cx="2876252" cy="956712"/>
          </a:xfrm>
          <a:prstGeom prst="roundRect">
            <a:avLst>
              <a:gd name="adj" fmla="val 6000"/>
            </a:avLst>
          </a:prstGeom>
          <a:solidFill>
            <a:srgbClr val="DD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00D960-AB57-5E99-78CD-F7CECF02F7A5}"/>
              </a:ext>
            </a:extLst>
          </p:cNvPr>
          <p:cNvSpPr txBox="1"/>
          <p:nvPr/>
        </p:nvSpPr>
        <p:spPr>
          <a:xfrm>
            <a:off x="4886538" y="2261184"/>
            <a:ext cx="204934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b="1" i="1">
                <a:solidFill>
                  <a:srgbClr val="15598C"/>
                </a:solidFill>
                <a:latin typeface="Calibri"/>
              </a:rPr>
              <a:t>Y</a:t>
            </a:r>
            <a:r>
              <a:rPr lang="en-US" sz="2000" b="1">
                <a:solidFill>
                  <a:srgbClr val="15598C"/>
                </a:solidFill>
                <a:latin typeface="Calibri"/>
              </a:rPr>
              <a:t>: types of results</a:t>
            </a:r>
            <a:endParaRPr sz="2000" b="1">
              <a:solidFill>
                <a:srgbClr val="15598C"/>
              </a:solidFill>
              <a:latin typeface="Calibri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8AF31F4-0B25-1AB3-A5A7-3C8FE5AD7BBA}"/>
              </a:ext>
            </a:extLst>
          </p:cNvPr>
          <p:cNvSpPr/>
          <p:nvPr/>
        </p:nvSpPr>
        <p:spPr>
          <a:xfrm>
            <a:off x="4789977" y="2616108"/>
            <a:ext cx="2218045" cy="339957"/>
          </a:xfrm>
          <a:prstGeom prst="roundRect">
            <a:avLst>
              <a:gd name="adj" fmla="val 16000"/>
            </a:avLst>
          </a:prstGeom>
          <a:solidFill>
            <a:srgbClr val="155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131CD1-72CD-B2A1-02B0-E3CEB32E92E7}"/>
              </a:ext>
            </a:extLst>
          </p:cNvPr>
          <p:cNvSpPr txBox="1"/>
          <p:nvPr/>
        </p:nvSpPr>
        <p:spPr>
          <a:xfrm>
            <a:off x="4972804" y="2635333"/>
            <a:ext cx="164356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>
                <a:solidFill>
                  <a:srgbClr val="DDEBF4"/>
                </a:solidFill>
                <a:latin typeface="Calibri"/>
              </a:rPr>
              <a:t>Weather data</a:t>
            </a:r>
            <a:endParaRPr sz="2000" b="1">
              <a:solidFill>
                <a:srgbClr val="DDEBF4"/>
              </a:solidFill>
              <a:latin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926739-9C43-5BF7-2AFB-A471944663DD}"/>
              </a:ext>
            </a:extLst>
          </p:cNvPr>
          <p:cNvSpPr txBox="1"/>
          <p:nvPr/>
        </p:nvSpPr>
        <p:spPr>
          <a:xfrm>
            <a:off x="1190790" y="2252830"/>
            <a:ext cx="204934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b="1" i="1">
                <a:solidFill>
                  <a:srgbClr val="14598C"/>
                </a:solidFill>
                <a:latin typeface="Calibri"/>
              </a:rPr>
              <a:t>X</a:t>
            </a:r>
            <a:r>
              <a:rPr lang="en-US" sz="2000" b="1">
                <a:solidFill>
                  <a:srgbClr val="14598C"/>
                </a:solidFill>
                <a:latin typeface="Calibri"/>
              </a:rPr>
              <a:t>: tools</a:t>
            </a:r>
            <a:endParaRPr sz="2000" b="1">
              <a:solidFill>
                <a:srgbClr val="14598C"/>
              </a:solidFill>
              <a:latin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B31040F-3577-2FB7-7706-B8C1916764A1}"/>
              </a:ext>
            </a:extLst>
          </p:cNvPr>
          <p:cNvSpPr/>
          <p:nvPr/>
        </p:nvSpPr>
        <p:spPr>
          <a:xfrm>
            <a:off x="3917652" y="3387057"/>
            <a:ext cx="5055321" cy="1200647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>
                <a:solidFill>
                  <a:schemeClr val="tx1"/>
                </a:solidFill>
              </a:rPr>
              <a:t>Surjective</a:t>
            </a:r>
            <a:r>
              <a:rPr lang="en-US" sz="1200">
                <a:solidFill>
                  <a:schemeClr val="tx1"/>
                </a:solidFill>
              </a:rPr>
              <a:t>: Trusted tools directly produce all results.</a:t>
            </a:r>
          </a:p>
          <a:p>
            <a:endParaRPr lang="en-US" sz="1200">
              <a:solidFill>
                <a:schemeClr val="tx1"/>
              </a:solidFill>
            </a:endParaRPr>
          </a:p>
          <a:p>
            <a:r>
              <a:rPr lang="en-US" sz="1200" b="1">
                <a:solidFill>
                  <a:schemeClr val="tx1"/>
                </a:solidFill>
              </a:rPr>
              <a:t>Injective</a:t>
            </a:r>
            <a:r>
              <a:rPr lang="en-US" sz="1200">
                <a:solidFill>
                  <a:schemeClr val="tx1"/>
                </a:solidFill>
              </a:rPr>
              <a:t>: Each result only comes from one trusted tool.</a:t>
            </a:r>
          </a:p>
          <a:p>
            <a:endParaRPr lang="en-US" sz="1200">
              <a:solidFill>
                <a:schemeClr val="tx1"/>
              </a:solidFill>
            </a:endParaRPr>
          </a:p>
          <a:p>
            <a:r>
              <a:rPr lang="en-US" sz="1200">
                <a:solidFill>
                  <a:schemeClr val="tx1"/>
                </a:solidFill>
              </a:rPr>
              <a:t>Bijectivity ensures results are trusted given validated tools and inputs.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61F8CD6B-15CA-2FA1-F1AD-2EFA2050FFE0}"/>
              </a:ext>
            </a:extLst>
          </p:cNvPr>
          <p:cNvSpPr/>
          <p:nvPr/>
        </p:nvSpPr>
        <p:spPr>
          <a:xfrm>
            <a:off x="778934" y="3846750"/>
            <a:ext cx="2876252" cy="933067"/>
          </a:xfrm>
          <a:prstGeom prst="roundRect">
            <a:avLst>
              <a:gd name="adj" fmla="val 6000"/>
            </a:avLst>
          </a:prstGeom>
          <a:solidFill>
            <a:srgbClr val="F8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35B5F9B-CEAA-E670-A093-BEA17FB0B6A1}"/>
              </a:ext>
            </a:extLst>
          </p:cNvPr>
          <p:cNvSpPr/>
          <p:nvPr/>
        </p:nvSpPr>
        <p:spPr>
          <a:xfrm>
            <a:off x="1117198" y="4306033"/>
            <a:ext cx="2248643" cy="329184"/>
          </a:xfrm>
          <a:prstGeom prst="roundRect">
            <a:avLst>
              <a:gd name="adj" fmla="val 14000"/>
            </a:avLst>
          </a:prstGeom>
          <a:solidFill>
            <a:srgbClr val="712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rgbClr val="712A13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DF60F0-23E4-D4C8-63EC-DEEAF0FFB46C}"/>
              </a:ext>
            </a:extLst>
          </p:cNvPr>
          <p:cNvSpPr txBox="1"/>
          <p:nvPr/>
        </p:nvSpPr>
        <p:spPr>
          <a:xfrm>
            <a:off x="1292901" y="4316738"/>
            <a:ext cx="185208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000" b="1">
                <a:solidFill>
                  <a:srgbClr val="F8E7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endParaRPr sz="2000" b="1">
              <a:solidFill>
                <a:srgbClr val="F8E7E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1E491C-F1C9-1F54-1F24-FCDFA0175A5E}"/>
              </a:ext>
            </a:extLst>
          </p:cNvPr>
          <p:cNvSpPr txBox="1"/>
          <p:nvPr/>
        </p:nvSpPr>
        <p:spPr>
          <a:xfrm>
            <a:off x="1207576" y="3879128"/>
            <a:ext cx="204934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b="1" i="1">
                <a:solidFill>
                  <a:srgbClr val="712A13"/>
                </a:solidFill>
                <a:latin typeface="Calibri"/>
              </a:rPr>
              <a:t>Z</a:t>
            </a:r>
            <a:r>
              <a:rPr lang="en-US" sz="2000" b="1">
                <a:solidFill>
                  <a:srgbClr val="712A13"/>
                </a:solidFill>
                <a:latin typeface="Calibri"/>
              </a:rPr>
              <a:t>: other sources</a:t>
            </a:r>
            <a:endParaRPr sz="2000" b="1">
              <a:solidFill>
                <a:srgbClr val="712A13"/>
              </a:solidFill>
              <a:latin typeface="Calibri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1E3021A3-187F-04DD-593C-286DA83C2E04}"/>
              </a:ext>
            </a:extLst>
          </p:cNvPr>
          <p:cNvSpPr/>
          <p:nvPr/>
        </p:nvSpPr>
        <p:spPr>
          <a:xfrm>
            <a:off x="1117198" y="3183637"/>
            <a:ext cx="2230098" cy="315468"/>
          </a:xfrm>
          <a:prstGeom prst="roundRect">
            <a:avLst>
              <a:gd name="adj" fmla="val 18000"/>
            </a:avLst>
          </a:prstGeom>
          <a:solidFill>
            <a:srgbClr val="145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291CCA-A3E2-8DB4-3989-FD4BECA13FD5}"/>
              </a:ext>
            </a:extLst>
          </p:cNvPr>
          <p:cNvSpPr txBox="1"/>
          <p:nvPr/>
        </p:nvSpPr>
        <p:spPr>
          <a:xfrm>
            <a:off x="1135743" y="3161266"/>
            <a:ext cx="186600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000" b="1">
                <a:solidFill>
                  <a:srgbClr val="DDEBF4"/>
                </a:solidFill>
                <a:latin typeface="Calibri"/>
              </a:rPr>
              <a:t>    write_code()</a:t>
            </a:r>
            <a:endParaRPr sz="2000" b="1">
              <a:solidFill>
                <a:srgbClr val="DDEBF4"/>
              </a:solidFill>
              <a:latin typeface="Calibri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5DE92A8-F7F9-A420-1F73-3193BD4DC0DD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3365841" y="2786087"/>
            <a:ext cx="1424136" cy="0"/>
          </a:xfrm>
          <a:prstGeom prst="straightConnector1">
            <a:avLst/>
          </a:prstGeom>
          <a:ln w="63500">
            <a:solidFill>
              <a:srgbClr val="1359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518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DAC7B80-68D1-4837-59F9-B446A82566B6}"/>
              </a:ext>
            </a:extLst>
          </p:cNvPr>
          <p:cNvSpPr/>
          <p:nvPr/>
        </p:nvSpPr>
        <p:spPr>
          <a:xfrm>
            <a:off x="83134" y="1137251"/>
            <a:ext cx="2479419" cy="3933509"/>
          </a:xfrm>
          <a:prstGeom prst="rect">
            <a:avLst/>
          </a:prstGeom>
          <a:solidFill>
            <a:srgbClr val="F8E7E3"/>
          </a:solidFill>
          <a:ln w="50800">
            <a:solidFill>
              <a:srgbClr val="7F8C8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9E5049-132C-A887-0210-B2A0A420AF42}"/>
              </a:ext>
            </a:extLst>
          </p:cNvPr>
          <p:cNvSpPr/>
          <p:nvPr/>
        </p:nvSpPr>
        <p:spPr>
          <a:xfrm>
            <a:off x="304803" y="1487009"/>
            <a:ext cx="1974273" cy="1122218"/>
          </a:xfrm>
          <a:prstGeom prst="rect">
            <a:avLst/>
          </a:prstGeom>
          <a:solidFill>
            <a:srgbClr val="453C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LLM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1F36E9-6142-7C47-0854-C175E4D0B2B0}"/>
              </a:ext>
            </a:extLst>
          </p:cNvPr>
          <p:cNvSpPr/>
          <p:nvPr/>
        </p:nvSpPr>
        <p:spPr>
          <a:xfrm>
            <a:off x="3666260" y="2228857"/>
            <a:ext cx="1974273" cy="151879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Human Review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BFC4FE-27F5-32C4-D282-F4338F186BF1}"/>
              </a:ext>
            </a:extLst>
          </p:cNvPr>
          <p:cNvSpPr/>
          <p:nvPr/>
        </p:nvSpPr>
        <p:spPr>
          <a:xfrm>
            <a:off x="328907" y="3796307"/>
            <a:ext cx="1974273" cy="1122218"/>
          </a:xfrm>
          <a:prstGeom prst="rect">
            <a:avLst/>
          </a:prstGeom>
          <a:solidFill>
            <a:srgbClr val="7C2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Untrusted Tools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F05DB0-C327-5803-F47D-212CB1C9085D}"/>
              </a:ext>
            </a:extLst>
          </p:cNvPr>
          <p:cNvSpPr/>
          <p:nvPr/>
        </p:nvSpPr>
        <p:spPr>
          <a:xfrm>
            <a:off x="6924673" y="1487009"/>
            <a:ext cx="1974272" cy="112221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Trusted Tools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A0A32F-D585-5344-F98A-F9D7E080FFED}"/>
              </a:ext>
            </a:extLst>
          </p:cNvPr>
          <p:cNvSpPr/>
          <p:nvPr/>
        </p:nvSpPr>
        <p:spPr>
          <a:xfrm>
            <a:off x="6937582" y="3796306"/>
            <a:ext cx="1974272" cy="112221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Trusted Results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385356-B933-A568-EB88-17F5C1230376}"/>
              </a:ext>
            </a:extLst>
          </p:cNvPr>
          <p:cNvSpPr txBox="1"/>
          <p:nvPr/>
        </p:nvSpPr>
        <p:spPr>
          <a:xfrm>
            <a:off x="311730" y="568562"/>
            <a:ext cx="2182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Agent Loop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0F547B7-5001-3166-B852-897D5A58A704}"/>
              </a:ext>
            </a:extLst>
          </p:cNvPr>
          <p:cNvCxnSpPr>
            <a:cxnSpLocks/>
          </p:cNvCxnSpPr>
          <p:nvPr/>
        </p:nvCxnSpPr>
        <p:spPr>
          <a:xfrm>
            <a:off x="2562553" y="2429877"/>
            <a:ext cx="1087578" cy="0"/>
          </a:xfrm>
          <a:prstGeom prst="straightConnector1">
            <a:avLst/>
          </a:prstGeom>
          <a:ln w="63500">
            <a:solidFill>
              <a:srgbClr val="7F8C8D"/>
            </a:solidFill>
            <a:tailEnd type="triangle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41E2D20-A50A-FB97-6F0E-A06FBF321218}"/>
              </a:ext>
            </a:extLst>
          </p:cNvPr>
          <p:cNvSpPr txBox="1"/>
          <p:nvPr/>
        </p:nvSpPr>
        <p:spPr>
          <a:xfrm>
            <a:off x="2632598" y="1864714"/>
            <a:ext cx="1010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Proposed</a:t>
            </a:r>
          </a:p>
          <a:p>
            <a:pPr algn="ctr"/>
            <a:r>
              <a:rPr lang="en-US" sz="1400" b="1"/>
              <a:t>Inputs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B13221-608E-8A88-95BD-CA435AD83EDC}"/>
              </a:ext>
            </a:extLst>
          </p:cNvPr>
          <p:cNvCxnSpPr>
            <a:cxnSpLocks/>
          </p:cNvCxnSpPr>
          <p:nvPr/>
        </p:nvCxnSpPr>
        <p:spPr>
          <a:xfrm>
            <a:off x="5640533" y="2433896"/>
            <a:ext cx="1284140" cy="0"/>
          </a:xfrm>
          <a:prstGeom prst="straightConnector1">
            <a:avLst/>
          </a:prstGeom>
          <a:ln w="63500">
            <a:solidFill>
              <a:srgbClr val="1E8449"/>
            </a:solidFill>
            <a:tailEnd type="triangle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DE75E1B-7B91-AF68-A1A9-1B86DB1C5BF0}"/>
              </a:ext>
            </a:extLst>
          </p:cNvPr>
          <p:cNvSpPr txBox="1"/>
          <p:nvPr/>
        </p:nvSpPr>
        <p:spPr>
          <a:xfrm>
            <a:off x="5748139" y="1787565"/>
            <a:ext cx="1010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Reviewed</a:t>
            </a:r>
          </a:p>
          <a:p>
            <a:pPr algn="ctr"/>
            <a:r>
              <a:rPr lang="en-US" sz="1400" b="1"/>
              <a:t>Inputs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22B39D-CC41-0C97-F354-512BFB151FBC}"/>
              </a:ext>
            </a:extLst>
          </p:cNvPr>
          <p:cNvSpPr txBox="1"/>
          <p:nvPr/>
        </p:nvSpPr>
        <p:spPr>
          <a:xfrm>
            <a:off x="2612560" y="2959843"/>
            <a:ext cx="1050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Rejected</a:t>
            </a:r>
          </a:p>
          <a:p>
            <a:pPr algn="ctr"/>
            <a:r>
              <a:rPr lang="en-US" sz="1400" b="1"/>
              <a:t>Proposals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E4E4C15-CF26-B912-C3C6-D314B0601350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7911810" y="2609227"/>
            <a:ext cx="12908" cy="1187079"/>
          </a:xfrm>
          <a:prstGeom prst="straightConnector1">
            <a:avLst/>
          </a:prstGeom>
          <a:ln w="63500">
            <a:solidFill>
              <a:srgbClr val="1E8449"/>
            </a:solidFill>
            <a:tailEnd type="triangle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565D202-9D78-41DB-CFD2-6F9D416C7974}"/>
              </a:ext>
            </a:extLst>
          </p:cNvPr>
          <p:cNvSpPr txBox="1"/>
          <p:nvPr/>
        </p:nvSpPr>
        <p:spPr>
          <a:xfrm>
            <a:off x="6614761" y="2857564"/>
            <a:ext cx="1287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Nontrivial</a:t>
            </a:r>
          </a:p>
          <a:p>
            <a:pPr algn="ctr"/>
            <a:r>
              <a:rPr lang="en-US" sz="1400" b="1"/>
              <a:t>Computation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74CAD0-08C9-6DD8-3B24-73A67703BFE5}"/>
              </a:ext>
            </a:extLst>
          </p:cNvPr>
          <p:cNvSpPr txBox="1"/>
          <p:nvPr/>
        </p:nvSpPr>
        <p:spPr>
          <a:xfrm>
            <a:off x="5752532" y="566168"/>
            <a:ext cx="11252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/>
              <a:t>Trust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9B159AC-02E5-2AD6-6BEE-B46A64C22E47}"/>
              </a:ext>
            </a:extLst>
          </p:cNvPr>
          <p:cNvCxnSpPr>
            <a:cxnSpLocks/>
          </p:cNvCxnSpPr>
          <p:nvPr/>
        </p:nvCxnSpPr>
        <p:spPr>
          <a:xfrm>
            <a:off x="1974274" y="2609227"/>
            <a:ext cx="0" cy="1187079"/>
          </a:xfrm>
          <a:prstGeom prst="straightConnector1">
            <a:avLst/>
          </a:prstGeom>
          <a:ln w="63500">
            <a:solidFill>
              <a:srgbClr val="443C8C"/>
            </a:solidFill>
            <a:tailEnd type="triangle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35C70C8-DD5B-D5AF-8666-59EDBD8C539C}"/>
              </a:ext>
            </a:extLst>
          </p:cNvPr>
          <p:cNvCxnSpPr>
            <a:cxnSpLocks/>
          </p:cNvCxnSpPr>
          <p:nvPr/>
        </p:nvCxnSpPr>
        <p:spPr>
          <a:xfrm flipV="1">
            <a:off x="613063" y="2588446"/>
            <a:ext cx="0" cy="1207861"/>
          </a:xfrm>
          <a:prstGeom prst="straightConnector1">
            <a:avLst/>
          </a:prstGeom>
          <a:ln w="63500">
            <a:solidFill>
              <a:srgbClr val="7C2E1D"/>
            </a:solidFill>
            <a:tailEnd type="triangle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5033E2C-458D-E298-210E-2AE5265BAF27}"/>
              </a:ext>
            </a:extLst>
          </p:cNvPr>
          <p:cNvSpPr txBox="1"/>
          <p:nvPr/>
        </p:nvSpPr>
        <p:spPr>
          <a:xfrm>
            <a:off x="672278" y="2970703"/>
            <a:ext cx="1287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/>
              <a:t>Autonomous</a:t>
            </a:r>
          </a:p>
          <a:p>
            <a:pPr algn="ctr"/>
            <a:r>
              <a:rPr lang="en-US" sz="1400" b="1"/>
              <a:t>reasoning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6BF95DF-C08D-9FB0-B4BA-42F04A70018F}"/>
              </a:ext>
            </a:extLst>
          </p:cNvPr>
          <p:cNvCxnSpPr>
            <a:cxnSpLocks/>
          </p:cNvCxnSpPr>
          <p:nvPr/>
        </p:nvCxnSpPr>
        <p:spPr>
          <a:xfrm>
            <a:off x="3642811" y="1105188"/>
            <a:ext cx="5256134" cy="0"/>
          </a:xfrm>
          <a:prstGeom prst="line">
            <a:avLst/>
          </a:prstGeom>
          <a:ln w="63500">
            <a:solidFill>
              <a:srgbClr val="7F8C8D"/>
            </a:solidFill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F889327-D30C-AB29-9253-DF5FC1FEC76C}"/>
              </a:ext>
            </a:extLst>
          </p:cNvPr>
          <p:cNvCxnSpPr>
            <a:cxnSpLocks/>
          </p:cNvCxnSpPr>
          <p:nvPr/>
        </p:nvCxnSpPr>
        <p:spPr>
          <a:xfrm flipH="1">
            <a:off x="2578682" y="3523627"/>
            <a:ext cx="1071449" cy="1"/>
          </a:xfrm>
          <a:prstGeom prst="straightConnector1">
            <a:avLst/>
          </a:prstGeom>
          <a:ln w="63500">
            <a:solidFill>
              <a:srgbClr val="7F8C8D"/>
            </a:solidFill>
            <a:tailEnd type="triangle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0">
            <a:extLst>
              <a:ext uri="{FF2B5EF4-FFF2-40B4-BE49-F238E27FC236}">
                <a16:creationId xmlns:a16="http://schemas.microsoft.com/office/drawing/2014/main" id="{5A3DA0E2-6D43-9176-D51A-42B0E830C80E}"/>
              </a:ext>
            </a:extLst>
          </p:cNvPr>
          <p:cNvSpPr/>
          <p:nvPr/>
        </p:nvSpPr>
        <p:spPr>
          <a:xfrm>
            <a:off x="425888" y="-52883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mini-agent workflow</a:t>
            </a:r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1517751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7CB2-EE47-6A67-B4DF-32DE7C838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7D80FFF5-BAEE-54C3-A3B2-E9260A5F3D78}"/>
              </a:ext>
            </a:extLst>
          </p:cNvPr>
          <p:cNvSpPr/>
          <p:nvPr/>
        </p:nvSpPr>
        <p:spPr>
          <a:xfrm>
            <a:off x="456057" y="1268730"/>
            <a:ext cx="3017520" cy="2331720"/>
          </a:xfrm>
          <a:prstGeom prst="homePlate">
            <a:avLst/>
          </a:prstGeom>
          <a:solidFill>
            <a:srgbClr val="B8C5D6"/>
          </a:solidFill>
          <a:ln w="12700">
            <a:solidFill>
              <a:srgbClr val="B8C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8E93A2E-88B3-60BB-1009-30849FDD5129}"/>
              </a:ext>
            </a:extLst>
          </p:cNvPr>
          <p:cNvSpPr/>
          <p:nvPr/>
        </p:nvSpPr>
        <p:spPr>
          <a:xfrm>
            <a:off x="3062097" y="1268730"/>
            <a:ext cx="3017520" cy="2331720"/>
          </a:xfrm>
          <a:prstGeom prst="homePlate">
            <a:avLst/>
          </a:prstGeom>
          <a:solidFill>
            <a:srgbClr val="4A8A95"/>
          </a:solidFill>
          <a:ln w="12700">
            <a:solidFill>
              <a:srgbClr val="4A8A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DEC03EC-DC16-8289-58AE-100DDBC55875}"/>
              </a:ext>
            </a:extLst>
          </p:cNvPr>
          <p:cNvSpPr/>
          <p:nvPr/>
        </p:nvSpPr>
        <p:spPr>
          <a:xfrm>
            <a:off x="5668137" y="1268730"/>
            <a:ext cx="3017520" cy="2331720"/>
          </a:xfrm>
          <a:prstGeom prst="homePlate">
            <a:avLst/>
          </a:prstGeom>
          <a:solidFill>
            <a:srgbClr val="0E4F58"/>
          </a:solidFill>
          <a:ln w="12700">
            <a:solidFill>
              <a:srgbClr val="0E4F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455FAA2-3D8F-22E1-1038-485FEE4D44E4}"/>
              </a:ext>
            </a:extLst>
          </p:cNvPr>
          <p:cNvSpPr/>
          <p:nvPr/>
        </p:nvSpPr>
        <p:spPr>
          <a:xfrm>
            <a:off x="435737" y="204492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trust</a:t>
            </a:r>
            <a:endParaRPr lang="en-US" sz="27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AFB2409-CD70-79F7-42E9-A17176B03D57}"/>
              </a:ext>
            </a:extLst>
          </p:cNvPr>
          <p:cNvSpPr/>
          <p:nvPr/>
        </p:nvSpPr>
        <p:spPr>
          <a:xfrm>
            <a:off x="519139" y="1332237"/>
            <a:ext cx="342900" cy="342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BF63578-7EB3-FF1D-2655-64CD916D3143}"/>
              </a:ext>
            </a:extLst>
          </p:cNvPr>
          <p:cNvSpPr/>
          <p:nvPr/>
        </p:nvSpPr>
        <p:spPr>
          <a:xfrm>
            <a:off x="519139" y="1332237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999930-73F9-F173-3FB7-B99938707999}"/>
              </a:ext>
            </a:extLst>
          </p:cNvPr>
          <p:cNvSpPr/>
          <p:nvPr/>
        </p:nvSpPr>
        <p:spPr>
          <a:xfrm>
            <a:off x="613961" y="1716625"/>
            <a:ext cx="249767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the LLM.</a:t>
            </a:r>
            <a:endParaRPr lang="en-US"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08D519C-9C9D-BEFA-BB7E-10E816DED138}"/>
              </a:ext>
            </a:extLst>
          </p:cNvPr>
          <p:cNvSpPr/>
          <p:nvPr/>
        </p:nvSpPr>
        <p:spPr>
          <a:xfrm>
            <a:off x="627507" y="2147997"/>
            <a:ext cx="194081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kern="0" spc="30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278C51E-FFE0-209B-74E1-04E163AF9712}"/>
              </a:ext>
            </a:extLst>
          </p:cNvPr>
          <p:cNvSpPr/>
          <p:nvPr/>
        </p:nvSpPr>
        <p:spPr>
          <a:xfrm>
            <a:off x="634280" y="2387179"/>
            <a:ext cx="2428952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and convenience.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8125E30-828B-E8CF-4256-C8E3921F67FA}"/>
              </a:ext>
            </a:extLst>
          </p:cNvPr>
          <p:cNvSpPr/>
          <p:nvPr/>
        </p:nvSpPr>
        <p:spPr>
          <a:xfrm>
            <a:off x="627507" y="3058158"/>
            <a:ext cx="194081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kern="0" spc="30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EEF6DAD-87EE-4E07-AF73-E40B0DD7CE1A}"/>
              </a:ext>
            </a:extLst>
          </p:cNvPr>
          <p:cNvSpPr/>
          <p:nvPr/>
        </p:nvSpPr>
        <p:spPr>
          <a:xfrm>
            <a:off x="627507" y="3297338"/>
            <a:ext cx="19408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trust! Expect hallucinations!</a:t>
            </a:r>
            <a:endParaRPr lang="en-US" sz="975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BA6889B-63FC-A375-FD90-985DBF750BFA}"/>
              </a:ext>
            </a:extLst>
          </p:cNvPr>
          <p:cNvSpPr/>
          <p:nvPr/>
        </p:nvSpPr>
        <p:spPr>
          <a:xfrm>
            <a:off x="3125179" y="1332237"/>
            <a:ext cx="342900" cy="342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3BE510A-E44B-5A20-03EC-08A7B9519968}"/>
              </a:ext>
            </a:extLst>
          </p:cNvPr>
          <p:cNvSpPr/>
          <p:nvPr/>
        </p:nvSpPr>
        <p:spPr>
          <a:xfrm>
            <a:off x="3125179" y="1332237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4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F8F7162-0137-6608-3859-2A7D76F455F6}"/>
              </a:ext>
            </a:extLst>
          </p:cNvPr>
          <p:cNvSpPr/>
          <p:nvPr/>
        </p:nvSpPr>
        <p:spPr>
          <a:xfrm>
            <a:off x="3220001" y="1716625"/>
            <a:ext cx="249767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input for tools.</a:t>
            </a:r>
            <a:endParaRPr lang="en-US" sz="15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82C51B7-3D7A-C4FB-FC5D-0A3E6C843761}"/>
              </a:ext>
            </a:extLst>
          </p:cNvPr>
          <p:cNvSpPr/>
          <p:nvPr/>
        </p:nvSpPr>
        <p:spPr>
          <a:xfrm>
            <a:off x="3233547" y="2147997"/>
            <a:ext cx="194081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kern="0" spc="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CC48086-C70C-BFFD-363A-697BA8283F3A}"/>
              </a:ext>
            </a:extLst>
          </p:cNvPr>
          <p:cNvSpPr/>
          <p:nvPr/>
        </p:nvSpPr>
        <p:spPr>
          <a:xfrm>
            <a:off x="3240320" y="2387179"/>
            <a:ext cx="2428952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user intent.</a:t>
            </a:r>
          </a:p>
          <a:p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input to help humans check.</a:t>
            </a:r>
            <a:endParaRPr lang="en-US" sz="12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98D26D7-9CFE-BDEF-7F8D-FB1780DB6790}"/>
              </a:ext>
            </a:extLst>
          </p:cNvPr>
          <p:cNvSpPr/>
          <p:nvPr/>
        </p:nvSpPr>
        <p:spPr>
          <a:xfrm>
            <a:off x="3233547" y="3058158"/>
            <a:ext cx="194081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kern="0" spc="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28F25D8-B57C-5A3D-3491-9BC1498635EA}"/>
              </a:ext>
            </a:extLst>
          </p:cNvPr>
          <p:cNvSpPr/>
          <p:nvPr/>
        </p:nvSpPr>
        <p:spPr>
          <a:xfrm>
            <a:off x="3233547" y="3297338"/>
            <a:ext cx="19408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checking process.</a:t>
            </a:r>
            <a:endParaRPr lang="en-US" sz="975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B395619-1755-E045-9A6B-BCA2DEFB0380}"/>
              </a:ext>
            </a:extLst>
          </p:cNvPr>
          <p:cNvSpPr/>
          <p:nvPr/>
        </p:nvSpPr>
        <p:spPr>
          <a:xfrm>
            <a:off x="5731219" y="1332237"/>
            <a:ext cx="342900" cy="342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3DF5410-9E39-5EB6-A3DC-26CAC1398214}"/>
              </a:ext>
            </a:extLst>
          </p:cNvPr>
          <p:cNvSpPr/>
          <p:nvPr/>
        </p:nvSpPr>
        <p:spPr>
          <a:xfrm>
            <a:off x="435737" y="4094056"/>
            <a:ext cx="2626360" cy="113756"/>
          </a:xfrm>
          <a:prstGeom prst="rect">
            <a:avLst/>
          </a:prstGeom>
          <a:solidFill>
            <a:srgbClr val="B8C5D6"/>
          </a:solidFill>
          <a:ln w="12700">
            <a:solidFill>
              <a:srgbClr val="B8C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5B378EA-5CF6-C804-4D30-2A9C359BC8AF}"/>
              </a:ext>
            </a:extLst>
          </p:cNvPr>
          <p:cNvSpPr/>
          <p:nvPr/>
        </p:nvSpPr>
        <p:spPr>
          <a:xfrm>
            <a:off x="3062097" y="4092538"/>
            <a:ext cx="2612812" cy="115274"/>
          </a:xfrm>
          <a:prstGeom prst="rect">
            <a:avLst/>
          </a:prstGeom>
          <a:solidFill>
            <a:srgbClr val="4A8A95"/>
          </a:solidFill>
          <a:ln w="12700">
            <a:solidFill>
              <a:srgbClr val="4A8A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0E2336C-D8AC-5673-9C27-0E069FC47452}"/>
              </a:ext>
            </a:extLst>
          </p:cNvPr>
          <p:cNvSpPr/>
          <p:nvPr/>
        </p:nvSpPr>
        <p:spPr>
          <a:xfrm>
            <a:off x="5674909" y="4092416"/>
            <a:ext cx="2795948" cy="115396"/>
          </a:xfrm>
          <a:prstGeom prst="rect">
            <a:avLst/>
          </a:prstGeom>
          <a:solidFill>
            <a:srgbClr val="0E4F58"/>
          </a:solidFill>
          <a:ln w="12700">
            <a:solidFill>
              <a:srgbClr val="0E4F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8B1BFF2-1DE3-58E7-3D7A-5C21F1F2C343}"/>
              </a:ext>
            </a:extLst>
          </p:cNvPr>
          <p:cNvSpPr/>
          <p:nvPr/>
        </p:nvSpPr>
        <p:spPr>
          <a:xfrm>
            <a:off x="690589" y="431873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i="1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chaos</a:t>
            </a:r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61101A0-9982-D869-1C94-1559E37A38FD}"/>
              </a:ext>
            </a:extLst>
          </p:cNvPr>
          <p:cNvSpPr/>
          <p:nvPr/>
        </p:nvSpPr>
        <p:spPr>
          <a:xfrm>
            <a:off x="5717673" y="4318730"/>
            <a:ext cx="2587894" cy="28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b="1" i="1">
                <a:solidFill>
                  <a:srgbClr val="0E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results given input.</a:t>
            </a:r>
            <a:endParaRPr lang="en-US"/>
          </a:p>
        </p:txBody>
      </p:sp>
      <p:sp>
        <p:nvSpPr>
          <p:cNvPr id="35" name="Triangle 34">
            <a:extLst>
              <a:ext uri="{FF2B5EF4-FFF2-40B4-BE49-F238E27FC236}">
                <a16:creationId xmlns:a16="http://schemas.microsoft.com/office/drawing/2014/main" id="{1F51BBAC-3F91-1400-D6FC-6253C3DD8C1F}"/>
              </a:ext>
            </a:extLst>
          </p:cNvPr>
          <p:cNvSpPr/>
          <p:nvPr/>
        </p:nvSpPr>
        <p:spPr>
          <a:xfrm rot="5400000">
            <a:off x="8440377" y="4044521"/>
            <a:ext cx="284480" cy="209973"/>
          </a:xfrm>
          <a:prstGeom prst="triangle">
            <a:avLst/>
          </a:prstGeom>
          <a:solidFill>
            <a:srgbClr val="0E4F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3F84FEC7-54CA-FA41-071D-0F1F7D1FC71B}"/>
              </a:ext>
            </a:extLst>
          </p:cNvPr>
          <p:cNvSpPr/>
          <p:nvPr/>
        </p:nvSpPr>
        <p:spPr>
          <a:xfrm>
            <a:off x="3296629" y="4322260"/>
            <a:ext cx="2039678" cy="3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hallucinations.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2BB6CAC4-D1F6-81E9-E2FB-30E8DC381577}"/>
              </a:ext>
            </a:extLst>
          </p:cNvPr>
          <p:cNvSpPr/>
          <p:nvPr/>
        </p:nvSpPr>
        <p:spPr>
          <a:xfrm rot="5400000">
            <a:off x="5623479" y="4047814"/>
            <a:ext cx="284480" cy="209973"/>
          </a:xfrm>
          <a:prstGeom prst="triangle">
            <a:avLst/>
          </a:prstGeom>
          <a:solidFill>
            <a:srgbClr val="4A8A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riangle 36">
            <a:extLst>
              <a:ext uri="{FF2B5EF4-FFF2-40B4-BE49-F238E27FC236}">
                <a16:creationId xmlns:a16="http://schemas.microsoft.com/office/drawing/2014/main" id="{256C2080-4FCC-F13C-1083-419933466832}"/>
              </a:ext>
            </a:extLst>
          </p:cNvPr>
          <p:cNvSpPr/>
          <p:nvPr/>
        </p:nvSpPr>
        <p:spPr>
          <a:xfrm rot="5400000">
            <a:off x="3002438" y="4047122"/>
            <a:ext cx="284480" cy="209973"/>
          </a:xfrm>
          <a:prstGeom prst="triangle">
            <a:avLst/>
          </a:prstGeom>
          <a:solidFill>
            <a:srgbClr val="B8C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048EC0D-350B-5689-8930-D2F1B3D43765}"/>
              </a:ext>
            </a:extLst>
          </p:cNvPr>
          <p:cNvSpPr/>
          <p:nvPr/>
        </p:nvSpPr>
        <p:spPr>
          <a:xfrm>
            <a:off x="5731219" y="1332237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0E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54767DE-76A0-851E-54DC-012AF1A6D948}"/>
              </a:ext>
            </a:extLst>
          </p:cNvPr>
          <p:cNvSpPr/>
          <p:nvPr/>
        </p:nvSpPr>
        <p:spPr>
          <a:xfrm>
            <a:off x="5826041" y="1716625"/>
            <a:ext cx="249767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validated tools.</a:t>
            </a:r>
            <a:endParaRPr lang="en-US" sz="15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4BC8638-6E2B-DD71-3664-0F0E7EB66A65}"/>
              </a:ext>
            </a:extLst>
          </p:cNvPr>
          <p:cNvSpPr/>
          <p:nvPr/>
        </p:nvSpPr>
        <p:spPr>
          <a:xfrm>
            <a:off x="5839587" y="2147997"/>
            <a:ext cx="194081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kern="0" spc="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4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C834F17-46A0-2D63-4C23-6438089A29D0}"/>
              </a:ext>
            </a:extLst>
          </p:cNvPr>
          <p:cNvSpPr/>
          <p:nvPr/>
        </p:nvSpPr>
        <p:spPr>
          <a:xfrm>
            <a:off x="5846359" y="2387179"/>
            <a:ext cx="274222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results are correct (given input).</a:t>
            </a:r>
          </a:p>
          <a:p>
            <a:endParaRPr lang="en-US" sz="120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2A80683-C107-5D79-6439-A507558E3BE4}"/>
              </a:ext>
            </a:extLst>
          </p:cNvPr>
          <p:cNvSpPr/>
          <p:nvPr/>
        </p:nvSpPr>
        <p:spPr>
          <a:xfrm>
            <a:off x="5839587" y="3058158"/>
            <a:ext cx="194081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kern="0" spc="3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4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BD6F5BA-46C9-C8D2-92E6-61A758246DBA}"/>
              </a:ext>
            </a:extLst>
          </p:cNvPr>
          <p:cNvSpPr/>
          <p:nvPr/>
        </p:nvSpPr>
        <p:spPr>
          <a:xfrm>
            <a:off x="5839587" y="3297338"/>
            <a:ext cx="194081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tool input.</a:t>
            </a:r>
            <a:endParaRPr lang="en-US" sz="975"/>
          </a:p>
        </p:txBody>
      </p:sp>
    </p:spTree>
    <p:extLst>
      <p:ext uri="{BB962C8B-B14F-4D97-AF65-F5344CB8AC3E}">
        <p14:creationId xmlns:p14="http://schemas.microsoft.com/office/powerpoint/2010/main" val="287100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20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1" grpId="0" animBg="1"/>
      <p:bldP spid="36" grpId="0" animBg="1"/>
      <p:bldP spid="36" grpId="1" animBg="1"/>
      <p:bldP spid="37" grpId="0" animBg="1"/>
      <p:bldP spid="37" grpId="1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F7E5D-770F-99D8-F4C2-585BACAB8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3B9A0066-2074-6FD5-FA6E-E3054F3B8804}"/>
              </a:ext>
            </a:extLst>
          </p:cNvPr>
          <p:cNvSpPr/>
          <p:nvPr/>
        </p:nvSpPr>
        <p:spPr>
          <a:xfrm>
            <a:off x="425888" y="51620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human users</a:t>
            </a:r>
            <a:endParaRPr lang="en-US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293417-F336-A631-C70A-714B16CE828B}"/>
              </a:ext>
            </a:extLst>
          </p:cNvPr>
          <p:cNvSpPr txBox="1"/>
          <p:nvPr/>
        </p:nvSpPr>
        <p:spPr>
          <a:xfrm>
            <a:off x="354330" y="863590"/>
            <a:ext cx="73200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Instead of:</a:t>
            </a:r>
          </a:p>
          <a:p>
            <a:endParaRPr lang="en-US" sz="2400"/>
          </a:p>
          <a:p>
            <a:pPr lvl="1"/>
            <a:r>
              <a:rPr lang="en-US" sz="2400" b="1" i="1"/>
              <a:t>Are these results correct?</a:t>
            </a:r>
          </a:p>
          <a:p>
            <a:endParaRPr lang="en-US" sz="2400"/>
          </a:p>
          <a:p>
            <a:r>
              <a:rPr lang="en-US" sz="2400"/>
              <a:t>users ask:</a:t>
            </a:r>
          </a:p>
          <a:p>
            <a:endParaRPr lang="en-US" sz="2400"/>
          </a:p>
          <a:p>
            <a:pPr lvl="1"/>
            <a:r>
              <a:rPr lang="en-US" sz="2400" b="1" i="1">
                <a:highlight>
                  <a:srgbClr val="FFFF00"/>
                </a:highlight>
              </a:rPr>
              <a:t>Is the agent solving the right problem?</a:t>
            </a:r>
          </a:p>
          <a:p>
            <a:endParaRPr lang="en-US" sz="2400"/>
          </a:p>
          <a:p>
            <a:r>
              <a:rPr lang="en-US" sz="2400"/>
              <a:t>which is much easier to verify.</a:t>
            </a:r>
          </a:p>
        </p:txBody>
      </p:sp>
    </p:spTree>
    <p:extLst>
      <p:ext uri="{BB962C8B-B14F-4D97-AF65-F5344CB8AC3E}">
        <p14:creationId xmlns:p14="http://schemas.microsoft.com/office/powerpoint/2010/main" val="2434607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E2C5B-710B-2D3B-41B4-72E28900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D50E-C11E-97AC-5599-A60D8BED4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06898"/>
            <a:ext cx="9143999" cy="564852"/>
          </a:xfrm>
        </p:spPr>
        <p:txBody>
          <a:bodyPr>
            <a:normAutofit fontScale="90000"/>
          </a:bodyPr>
          <a:lstStyle/>
          <a:p>
            <a:r>
              <a:rPr lang="en-US"/>
              <a:t>Implementing trusted mini-agents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90EA79-828B-5427-DE47-DBD4C165AA7E}"/>
              </a:ext>
            </a:extLst>
          </p:cNvPr>
          <p:cNvSpPr/>
          <p:nvPr/>
        </p:nvSpPr>
        <p:spPr>
          <a:xfrm>
            <a:off x="6309360" y="3742509"/>
            <a:ext cx="2664823" cy="1345474"/>
          </a:xfrm>
          <a:prstGeom prst="rect">
            <a:avLst/>
          </a:prstGeom>
          <a:solidFill>
            <a:srgbClr val="D52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15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774E7-36F4-287C-099F-34819F75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1266B4-355C-F6CF-8ACE-D5985489B265}"/>
              </a:ext>
            </a:extLst>
          </p:cNvPr>
          <p:cNvSpPr/>
          <p:nvPr/>
        </p:nvSpPr>
        <p:spPr>
          <a:xfrm>
            <a:off x="342900" y="161185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trusted mini-agents in R</a:t>
            </a:r>
            <a:endParaRPr lang="en-US" sz="27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5D1528-6042-E271-9809-4E0FF1829C61}"/>
              </a:ext>
            </a:extLst>
          </p:cNvPr>
          <p:cNvSpPr txBox="1"/>
          <p:nvPr/>
        </p:nvSpPr>
        <p:spPr>
          <a:xfrm>
            <a:off x="645287" y="1407086"/>
            <a:ext cx="472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✅ Prompt LLMs with R code.</a:t>
            </a:r>
          </a:p>
          <a:p>
            <a:r>
              <a:rPr lang="en-US" sz="2400"/>
              <a:t>✅ Manages conversation history.</a:t>
            </a:r>
          </a:p>
          <a:p>
            <a:r>
              <a:rPr lang="en-US" sz="2400"/>
              <a:t>✅ Only register tools you trust.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65780F-C6E2-504E-C040-5CA65CC2E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687" y="785018"/>
            <a:ext cx="2056143" cy="23731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4BD30BF-CC3D-67E7-0B2F-28E893F944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7758" y="2607415"/>
            <a:ext cx="2056143" cy="2374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7AC14D-D94B-E1EB-7BD6-B9E05E160BC6}"/>
              </a:ext>
            </a:extLst>
          </p:cNvPr>
          <p:cNvSpPr txBox="1"/>
          <p:nvPr/>
        </p:nvSpPr>
        <p:spPr>
          <a:xfrm>
            <a:off x="1237888" y="3379366"/>
            <a:ext cx="5229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✅ Put a chat window in a Shiny app.</a:t>
            </a:r>
          </a:p>
          <a:p>
            <a:r>
              <a:rPr lang="en-US" sz="2400"/>
              <a:t>✅ Stream the chat into {ellmer}.</a:t>
            </a:r>
          </a:p>
        </p:txBody>
      </p:sp>
    </p:spTree>
    <p:extLst>
      <p:ext uri="{BB962C8B-B14F-4D97-AF65-F5344CB8AC3E}">
        <p14:creationId xmlns:p14="http://schemas.microsoft.com/office/powerpoint/2010/main" val="9247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B1CBC-FAF6-2C39-3E8C-355764DCA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644F34-540E-6219-F1A7-B5491102DDFD}"/>
              </a:ext>
            </a:extLst>
          </p:cNvPr>
          <p:cNvSpPr/>
          <p:nvPr/>
        </p:nvSpPr>
        <p:spPr>
          <a:xfrm>
            <a:off x="342900" y="161185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Shiny + </a:t>
            </a:r>
            <a:r>
              <a:rPr lang="en-US" sz="2700" b="1" err="1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shinychat</a:t>
            </a:r>
            <a:r>
              <a:rPr lang="en-US" sz="2700" b="1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ellmer</a:t>
            </a:r>
            <a:endParaRPr lang="en-US" sz="27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4BDF76-9C35-087F-3085-D1CD67BFE057}"/>
              </a:ext>
            </a:extLst>
          </p:cNvPr>
          <p:cNvSpPr txBox="1"/>
          <p:nvPr/>
        </p:nvSpPr>
        <p:spPr>
          <a:xfrm>
            <a:off x="1416050" y="4612983"/>
            <a:ext cx="6977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From </a:t>
            </a:r>
            <a:r>
              <a:rPr lang="en-US">
                <a:hlinkClick r:id="rId3"/>
              </a:rPr>
              <a:t>https://posit-dev.github.io/shinychat/r/articles/get-started.html</a:t>
            </a:r>
            <a:r>
              <a:rPr lang="en-US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9C4CFD-D37A-10B9-C1A2-52EDBC4D9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7" y="641245"/>
            <a:ext cx="6790049" cy="37684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09A06F-F50E-C8C6-AF9C-DD46841042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713" y="1073415"/>
            <a:ext cx="4428230" cy="3428840"/>
          </a:xfrm>
          <a:prstGeom prst="rect">
            <a:avLst/>
          </a:prstGeom>
          <a:ln w="12700">
            <a:solidFill>
              <a:srgbClr val="CECECE"/>
            </a:solidFill>
          </a:ln>
        </p:spPr>
      </p:pic>
    </p:spTree>
    <p:extLst>
      <p:ext uri="{BB962C8B-B14F-4D97-AF65-F5344CB8AC3E}">
        <p14:creationId xmlns:p14="http://schemas.microsoft.com/office/powerpoint/2010/main" val="3078219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ED4E-6EB5-CF55-ABEF-E93E453FE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AE1768-7AC7-BFF1-8CA2-39D0EA2B6FE9}"/>
              </a:ext>
            </a:extLst>
          </p:cNvPr>
          <p:cNvSpPr/>
          <p:nvPr/>
        </p:nvSpPr>
        <p:spPr>
          <a:xfrm>
            <a:off x="435737" y="204492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regions for skepticism, review, and trust</a:t>
            </a:r>
            <a:endParaRPr lang="en-US" sz="270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290F5BD-4D03-A989-F6C3-D894BFB5F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87" y="863881"/>
            <a:ext cx="8555426" cy="401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57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77D0D-3186-AAB7-B272-67BE551CF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5E6AB0-FC07-57E8-F63B-3DAF070A21AA}"/>
              </a:ext>
            </a:extLst>
          </p:cNvPr>
          <p:cNvSpPr/>
          <p:nvPr/>
        </p:nvSpPr>
        <p:spPr>
          <a:xfrm>
            <a:off x="419408" y="-2337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/>
                <a:cs typeface="Arial"/>
              </a:rPr>
              <a:t>Example: weather app design</a:t>
            </a:r>
            <a:endParaRPr lang="en-US"/>
          </a:p>
        </p:txBody>
      </p:sp>
      <p:pic>
        <p:nvPicPr>
          <p:cNvPr id="3" name="Picture 2" descr="A screenshot of a map&#10;&#10;AI-generated content may be incorrect.">
            <a:extLst>
              <a:ext uri="{FF2B5EF4-FFF2-40B4-BE49-F238E27FC236}">
                <a16:creationId xmlns:a16="http://schemas.microsoft.com/office/drawing/2014/main" id="{A957E49A-B397-5814-9E5E-49CF0B586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8470"/>
            <a:ext cx="9144000" cy="384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27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1CA9D-A3FA-687F-B4FF-BA641BB8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1F958-4E09-08E6-4110-71AAE17BE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06898"/>
            <a:ext cx="9143999" cy="564852"/>
          </a:xfrm>
        </p:spPr>
        <p:txBody>
          <a:bodyPr>
            <a:normAutofit fontScale="90000"/>
          </a:bodyPr>
          <a:lstStyle/>
          <a:p>
            <a:r>
              <a:rPr lang="en-US"/>
              <a:t>Example: clinical trial simulation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F40497-E367-1DE3-47AF-F479B58B2B9B}"/>
              </a:ext>
            </a:extLst>
          </p:cNvPr>
          <p:cNvSpPr/>
          <p:nvPr/>
        </p:nvSpPr>
        <p:spPr>
          <a:xfrm>
            <a:off x="6309360" y="3742509"/>
            <a:ext cx="2664823" cy="1345474"/>
          </a:xfrm>
          <a:prstGeom prst="rect">
            <a:avLst/>
          </a:prstGeom>
          <a:solidFill>
            <a:srgbClr val="D52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14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ACDEC-B6B0-25A1-31EA-54DDA4B04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E9F03810-0A50-AB72-5311-4C236FD944CB}"/>
              </a:ext>
            </a:extLst>
          </p:cNvPr>
          <p:cNvSpPr/>
          <p:nvPr/>
        </p:nvSpPr>
        <p:spPr>
          <a:xfrm>
            <a:off x="456057" y="798830"/>
            <a:ext cx="3017520" cy="2331720"/>
          </a:xfrm>
          <a:prstGeom prst="homePlate">
            <a:avLst/>
          </a:prstGeom>
          <a:solidFill>
            <a:srgbClr val="B8C5D6"/>
          </a:solidFill>
          <a:ln w="12700">
            <a:solidFill>
              <a:srgbClr val="B8C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19302E3-D45E-0AB8-AF9E-91A068D502AE}"/>
              </a:ext>
            </a:extLst>
          </p:cNvPr>
          <p:cNvSpPr/>
          <p:nvPr/>
        </p:nvSpPr>
        <p:spPr>
          <a:xfrm>
            <a:off x="3062097" y="798830"/>
            <a:ext cx="3017520" cy="2331720"/>
          </a:xfrm>
          <a:prstGeom prst="homePlate">
            <a:avLst/>
          </a:prstGeom>
          <a:solidFill>
            <a:srgbClr val="4A8A95"/>
          </a:solidFill>
          <a:ln w="12700">
            <a:solidFill>
              <a:srgbClr val="4A8A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F896F52-2327-AAE1-DEC5-2A2DAD659D78}"/>
              </a:ext>
            </a:extLst>
          </p:cNvPr>
          <p:cNvSpPr/>
          <p:nvPr/>
        </p:nvSpPr>
        <p:spPr>
          <a:xfrm>
            <a:off x="5668137" y="798830"/>
            <a:ext cx="3017520" cy="2331720"/>
          </a:xfrm>
          <a:prstGeom prst="homePlate">
            <a:avLst/>
          </a:prstGeom>
          <a:solidFill>
            <a:srgbClr val="0E4F58"/>
          </a:solidFill>
          <a:ln w="12700">
            <a:solidFill>
              <a:srgbClr val="0E4F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57EF903-F086-5966-9CA4-1322508B3220}"/>
              </a:ext>
            </a:extLst>
          </p:cNvPr>
          <p:cNvSpPr/>
          <p:nvPr/>
        </p:nvSpPr>
        <p:spPr>
          <a:xfrm>
            <a:off x="435737" y="120040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clinical trial simulation trusted mini-agent</a:t>
            </a:r>
            <a:endParaRPr lang="en-US" sz="27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42C026-8A36-CFEA-5C4B-2DE84FD55D2F}"/>
              </a:ext>
            </a:extLst>
          </p:cNvPr>
          <p:cNvSpPr/>
          <p:nvPr/>
        </p:nvSpPr>
        <p:spPr>
          <a:xfrm>
            <a:off x="519139" y="862337"/>
            <a:ext cx="342900" cy="342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840146-2C36-15D4-36F4-48A03D61DB3D}"/>
              </a:ext>
            </a:extLst>
          </p:cNvPr>
          <p:cNvSpPr/>
          <p:nvPr/>
        </p:nvSpPr>
        <p:spPr>
          <a:xfrm>
            <a:off x="519139" y="862337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98214C2-1C2A-11E6-0CCF-54C48C420646}"/>
              </a:ext>
            </a:extLst>
          </p:cNvPr>
          <p:cNvSpPr/>
          <p:nvPr/>
        </p:nvSpPr>
        <p:spPr>
          <a:xfrm>
            <a:off x="486678" y="1268744"/>
            <a:ext cx="265031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 clinical design.</a:t>
            </a:r>
            <a:endParaRPr lang="en-US"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B2A18EE-5496-7A6A-2F26-43E867A0DB7B}"/>
              </a:ext>
            </a:extLst>
          </p:cNvPr>
          <p:cNvSpPr/>
          <p:nvPr/>
        </p:nvSpPr>
        <p:spPr>
          <a:xfrm>
            <a:off x="487598" y="1591962"/>
            <a:ext cx="2428952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200" i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designing a parallel phase 2A trial with 2 study arms. Scrape PubMed and ClinicalTrials.gov to give me scenarios that cover the competitive landscape of my drug.”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D1E5A97-E555-0ECE-DBB7-747ACC14504D}"/>
              </a:ext>
            </a:extLst>
          </p:cNvPr>
          <p:cNvSpPr/>
          <p:nvPr/>
        </p:nvSpPr>
        <p:spPr>
          <a:xfrm>
            <a:off x="3125179" y="862337"/>
            <a:ext cx="342900" cy="342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91C4159-8144-46D8-ADB8-ADC514F2EFD9}"/>
              </a:ext>
            </a:extLst>
          </p:cNvPr>
          <p:cNvSpPr/>
          <p:nvPr/>
        </p:nvSpPr>
        <p:spPr>
          <a:xfrm>
            <a:off x="3125179" y="862337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4A8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AA4D1CF-7323-113F-3F9B-6DB79D2C86E5}"/>
              </a:ext>
            </a:extLst>
          </p:cNvPr>
          <p:cNvSpPr/>
          <p:nvPr/>
        </p:nvSpPr>
        <p:spPr>
          <a:xfrm>
            <a:off x="3116281" y="1275153"/>
            <a:ext cx="249767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assumptions from LLM.</a:t>
            </a:r>
            <a:endParaRPr lang="en-US" sz="13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DAD1CAD-A894-8B44-FD0A-7A61A6143FA4}"/>
              </a:ext>
            </a:extLst>
          </p:cNvPr>
          <p:cNvSpPr/>
          <p:nvPr/>
        </p:nvSpPr>
        <p:spPr>
          <a:xfrm>
            <a:off x="5731219" y="862337"/>
            <a:ext cx="342900" cy="342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B8DF22B-89E9-3A28-A0B3-177670424DBB}"/>
              </a:ext>
            </a:extLst>
          </p:cNvPr>
          <p:cNvSpPr/>
          <p:nvPr/>
        </p:nvSpPr>
        <p:spPr>
          <a:xfrm>
            <a:off x="435737" y="3624156"/>
            <a:ext cx="2626360" cy="113756"/>
          </a:xfrm>
          <a:prstGeom prst="rect">
            <a:avLst/>
          </a:prstGeom>
          <a:solidFill>
            <a:srgbClr val="B8C5D6"/>
          </a:solidFill>
          <a:ln w="12700">
            <a:solidFill>
              <a:srgbClr val="B8C5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E80724F-7AC7-254A-C955-0BA0BAEE35CB}"/>
              </a:ext>
            </a:extLst>
          </p:cNvPr>
          <p:cNvSpPr/>
          <p:nvPr/>
        </p:nvSpPr>
        <p:spPr>
          <a:xfrm>
            <a:off x="3062097" y="3622638"/>
            <a:ext cx="2612812" cy="115274"/>
          </a:xfrm>
          <a:prstGeom prst="rect">
            <a:avLst/>
          </a:prstGeom>
          <a:solidFill>
            <a:srgbClr val="4A8A95"/>
          </a:solidFill>
          <a:ln w="12700">
            <a:solidFill>
              <a:srgbClr val="4A8A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0AE0B62-EFB5-E3AC-76E0-AF48DBF4A7B6}"/>
              </a:ext>
            </a:extLst>
          </p:cNvPr>
          <p:cNvSpPr/>
          <p:nvPr/>
        </p:nvSpPr>
        <p:spPr>
          <a:xfrm>
            <a:off x="5674909" y="3622516"/>
            <a:ext cx="2795948" cy="115396"/>
          </a:xfrm>
          <a:prstGeom prst="rect">
            <a:avLst/>
          </a:prstGeom>
          <a:solidFill>
            <a:srgbClr val="0E4F58"/>
          </a:solidFill>
          <a:ln w="12700">
            <a:solidFill>
              <a:srgbClr val="0E4F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BA486D9-13EA-A2DE-4DF8-1A650C87BC2B}"/>
              </a:ext>
            </a:extLst>
          </p:cNvPr>
          <p:cNvSpPr/>
          <p:nvPr/>
        </p:nvSpPr>
        <p:spPr>
          <a:xfrm>
            <a:off x="456057" y="3867822"/>
            <a:ext cx="24920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i="1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Unfettered brainstorming</a:t>
            </a:r>
            <a:endParaRPr lang="en-US" sz="16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84A8797-0B54-1036-C291-159A13495AF6}"/>
              </a:ext>
            </a:extLst>
          </p:cNvPr>
          <p:cNvSpPr/>
          <p:nvPr/>
        </p:nvSpPr>
        <p:spPr>
          <a:xfrm>
            <a:off x="5780508" y="3819768"/>
            <a:ext cx="2802109" cy="28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600" b="1" i="1">
                <a:solidFill>
                  <a:srgbClr val="0E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results given the design.</a:t>
            </a:r>
            <a:endParaRPr lang="en-US" sz="1600"/>
          </a:p>
        </p:txBody>
      </p:sp>
      <p:sp>
        <p:nvSpPr>
          <p:cNvPr id="35" name="Triangle 34">
            <a:extLst>
              <a:ext uri="{FF2B5EF4-FFF2-40B4-BE49-F238E27FC236}">
                <a16:creationId xmlns:a16="http://schemas.microsoft.com/office/drawing/2014/main" id="{29C216F4-22C8-A79D-2884-3B748C1DDA46}"/>
              </a:ext>
            </a:extLst>
          </p:cNvPr>
          <p:cNvSpPr/>
          <p:nvPr/>
        </p:nvSpPr>
        <p:spPr>
          <a:xfrm rot="5400000">
            <a:off x="8440377" y="3574621"/>
            <a:ext cx="284480" cy="209973"/>
          </a:xfrm>
          <a:prstGeom prst="triangle">
            <a:avLst/>
          </a:prstGeom>
          <a:solidFill>
            <a:srgbClr val="0E4F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1C12CB6F-882C-D1D1-90AB-C8C3991A3817}"/>
              </a:ext>
            </a:extLst>
          </p:cNvPr>
          <p:cNvSpPr/>
          <p:nvPr/>
        </p:nvSpPr>
        <p:spPr>
          <a:xfrm>
            <a:off x="3249665" y="3854786"/>
            <a:ext cx="2411067" cy="300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the design you want?</a:t>
            </a:r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FFD5F6B2-D47E-4D5B-21B7-07EE169E244E}"/>
              </a:ext>
            </a:extLst>
          </p:cNvPr>
          <p:cNvSpPr/>
          <p:nvPr/>
        </p:nvSpPr>
        <p:spPr>
          <a:xfrm rot="5400000">
            <a:off x="5623479" y="3577914"/>
            <a:ext cx="284480" cy="209973"/>
          </a:xfrm>
          <a:prstGeom prst="triangle">
            <a:avLst/>
          </a:prstGeom>
          <a:solidFill>
            <a:srgbClr val="4A8A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riangle 36">
            <a:extLst>
              <a:ext uri="{FF2B5EF4-FFF2-40B4-BE49-F238E27FC236}">
                <a16:creationId xmlns:a16="http://schemas.microsoft.com/office/drawing/2014/main" id="{9786AE1D-0126-4E23-79A6-FF0B2CB15F90}"/>
              </a:ext>
            </a:extLst>
          </p:cNvPr>
          <p:cNvSpPr/>
          <p:nvPr/>
        </p:nvSpPr>
        <p:spPr>
          <a:xfrm rot="5400000">
            <a:off x="3002438" y="3577222"/>
            <a:ext cx="284480" cy="209973"/>
          </a:xfrm>
          <a:prstGeom prst="triangle">
            <a:avLst/>
          </a:prstGeom>
          <a:solidFill>
            <a:srgbClr val="B8C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CDD5F28-45C8-789D-F81E-B14D34848A3D}"/>
              </a:ext>
            </a:extLst>
          </p:cNvPr>
          <p:cNvSpPr/>
          <p:nvPr/>
        </p:nvSpPr>
        <p:spPr>
          <a:xfrm>
            <a:off x="5731219" y="862337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0E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2115BDA-2560-90B0-27A6-EE4026929149}"/>
              </a:ext>
            </a:extLst>
          </p:cNvPr>
          <p:cNvSpPr/>
          <p:nvPr/>
        </p:nvSpPr>
        <p:spPr>
          <a:xfrm>
            <a:off x="5712409" y="1265593"/>
            <a:ext cx="249767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trusted simulations.</a:t>
            </a:r>
            <a:endParaRPr lang="en-US" sz="13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D94C3F8-396B-4249-1643-73A25DBEB5EB}"/>
              </a:ext>
            </a:extLst>
          </p:cNvPr>
          <p:cNvSpPr/>
          <p:nvPr/>
        </p:nvSpPr>
        <p:spPr>
          <a:xfrm>
            <a:off x="5773735" y="1656059"/>
            <a:ext cx="2742228" cy="133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tools actually run the simulations:</a:t>
            </a:r>
          </a:p>
          <a:p>
            <a:endParaRPr lang="en-US" sz="120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/>
            <a:r>
              <a:rPr lang="en-US" sz="100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simulate_binary</a:t>
            </a:r>
            <a:r>
              <a:rPr lang="en-US" sz="10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(design)</a:t>
            </a:r>
          </a:p>
          <a:p>
            <a:pPr lvl="1"/>
            <a:r>
              <a:rPr lang="en-US" sz="100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simulate_continuous</a:t>
            </a:r>
            <a:r>
              <a:rPr lang="en-US" sz="100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(design)</a:t>
            </a:r>
          </a:p>
          <a:p>
            <a:endParaRPr lang="en-US" sz="120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get results</a:t>
            </a:r>
          </a:p>
          <a:p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any other way!</a:t>
            </a:r>
          </a:p>
          <a:p>
            <a:endParaRPr lang="en-US" sz="120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20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AA046A1-5641-9BEA-56EB-AFA7D7D12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556683"/>
              </p:ext>
            </p:extLst>
          </p:nvPr>
        </p:nvGraphicFramePr>
        <p:xfrm>
          <a:off x="3119543" y="1667087"/>
          <a:ext cx="2316057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807">
                  <a:extLst>
                    <a:ext uri="{9D8B030D-6E8A-4147-A177-3AD203B41FA5}">
                      <a16:colId xmlns:a16="http://schemas.microsoft.com/office/drawing/2014/main" val="3790909119"/>
                    </a:ext>
                  </a:extLst>
                </a:gridCol>
                <a:gridCol w="513261">
                  <a:extLst>
                    <a:ext uri="{9D8B030D-6E8A-4147-A177-3AD203B41FA5}">
                      <a16:colId xmlns:a16="http://schemas.microsoft.com/office/drawing/2014/main" val="2208853640"/>
                    </a:ext>
                  </a:extLst>
                </a:gridCol>
                <a:gridCol w="1359989">
                  <a:extLst>
                    <a:ext uri="{9D8B030D-6E8A-4147-A177-3AD203B41FA5}">
                      <a16:colId xmlns:a16="http://schemas.microsoft.com/office/drawing/2014/main" val="3190734074"/>
                    </a:ext>
                  </a:extLst>
                </a:gridCol>
              </a:tblGrid>
              <a:tr h="272131">
                <a:tc>
                  <a:txBody>
                    <a:bodyPr/>
                    <a:lstStyle/>
                    <a:p>
                      <a:r>
                        <a:rPr lang="en-US" err="1"/>
                        <a:t>n</a:t>
                      </a:r>
                      <a:r>
                        <a:rPr lang="en-US" baseline="-25000" err="1"/>
                        <a:t>t</a:t>
                      </a:r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60</a:t>
                      </a:r>
                    </a:p>
                  </a:txBody>
                  <a:tcPr>
                    <a:lnL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Number of treatment patients</a:t>
                      </a:r>
                    </a:p>
                  </a:txBody>
                  <a:tcPr>
                    <a:lnL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695819"/>
                  </a:ext>
                </a:extLst>
              </a:tr>
              <a:tr h="272131">
                <a:tc>
                  <a:txBody>
                    <a:bodyPr/>
                    <a:lstStyle/>
                    <a:p>
                      <a:r>
                        <a:rPr lang="en-US"/>
                        <a:t>π</a:t>
                      </a:r>
                      <a:r>
                        <a:rPr lang="en-US" sz="1600" b="0" i="0" kern="1200" baseline="-250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en-US"/>
                    </a:p>
                  </a:txBody>
                  <a:tcPr>
                    <a:lnL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</a:t>
                      </a:r>
                    </a:p>
                  </a:txBody>
                  <a:tcPr>
                    <a:lnL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Treatment group response rate</a:t>
                      </a:r>
                    </a:p>
                  </a:txBody>
                  <a:tcPr>
                    <a:lnL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A8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980938"/>
                  </a:ext>
                </a:extLst>
              </a:tr>
            </a:tbl>
          </a:graphicData>
        </a:graphic>
      </p:graphicFrame>
      <p:sp>
        <p:nvSpPr>
          <p:cNvPr id="38" name="Text 23">
            <a:extLst>
              <a:ext uri="{FF2B5EF4-FFF2-40B4-BE49-F238E27FC236}">
                <a16:creationId xmlns:a16="http://schemas.microsoft.com/office/drawing/2014/main" id="{4FAECFED-CED6-C3EE-2380-A732927646AA}"/>
              </a:ext>
            </a:extLst>
          </p:cNvPr>
          <p:cNvSpPr/>
          <p:nvPr/>
        </p:nvSpPr>
        <p:spPr>
          <a:xfrm>
            <a:off x="3159167" y="2588258"/>
            <a:ext cx="2007322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 instead of clicking through Shiny UI widgets. </a:t>
            </a:r>
          </a:p>
          <a:p>
            <a:endParaRPr lang="en-US" sz="120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A23AE8F-DA8C-F645-9DAD-9EA6380DF67B}"/>
              </a:ext>
            </a:extLst>
          </p:cNvPr>
          <p:cNvSpPr/>
          <p:nvPr/>
        </p:nvSpPr>
        <p:spPr>
          <a:xfrm>
            <a:off x="286846" y="4427130"/>
            <a:ext cx="8336704" cy="41994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User checks for hallucinated designs, and hallucinated simulations are impossible.</a:t>
            </a:r>
          </a:p>
        </p:txBody>
      </p:sp>
    </p:spTree>
    <p:extLst>
      <p:ext uri="{BB962C8B-B14F-4D97-AF65-F5344CB8AC3E}">
        <p14:creationId xmlns:p14="http://schemas.microsoft.com/office/powerpoint/2010/main" val="58696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20" grpId="0" animBg="1"/>
      <p:bldP spid="5" grpId="0" animBg="1"/>
      <p:bldP spid="6" grpId="0" animBg="1"/>
      <p:bldP spid="7" grpId="0" animBg="1"/>
      <p:bldP spid="9" grpId="0" animBg="1"/>
      <p:bldP spid="13" grpId="0" animBg="1"/>
      <p:bldP spid="14" grpId="0" animBg="1"/>
      <p:bldP spid="15" grpId="0" animBg="1"/>
      <p:bldP spid="21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1" grpId="0" animBg="1"/>
      <p:bldP spid="36" grpId="0" animBg="1"/>
      <p:bldP spid="36" grpId="1" animBg="1"/>
      <p:bldP spid="37" grpId="0" animBg="1"/>
      <p:bldP spid="37" grpId="1" animBg="1"/>
      <p:bldP spid="22" grpId="0" animBg="1"/>
      <p:bldP spid="23" grpId="0" animBg="1"/>
      <p:bldP spid="25" grpId="0" animBg="1"/>
      <p:bldP spid="38" grpId="0" animBg="1"/>
      <p:bldP spid="3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6CAF4-DDB7-A2A5-BEF5-6BB437E3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E59E1AA-C57A-4E3A-6DDB-E8B0A519C18C}"/>
              </a:ext>
            </a:extLst>
          </p:cNvPr>
          <p:cNvSpPr/>
          <p:nvPr/>
        </p:nvSpPr>
        <p:spPr>
          <a:xfrm>
            <a:off x="172569" y="2022567"/>
            <a:ext cx="2412722" cy="2922014"/>
          </a:xfrm>
          <a:prstGeom prst="rect">
            <a:avLst/>
          </a:prstGeom>
          <a:solidFill>
            <a:srgbClr val="453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FAD583C-0352-CA7E-C826-14096EA23957}"/>
              </a:ext>
            </a:extLst>
          </p:cNvPr>
          <p:cNvSpPr/>
          <p:nvPr/>
        </p:nvSpPr>
        <p:spPr>
          <a:xfrm>
            <a:off x="442269" y="0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flow</a:t>
            </a:r>
            <a:endParaRPr lang="en-US" sz="27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D3A02-E157-85A2-8679-25703B4CD127}"/>
              </a:ext>
            </a:extLst>
          </p:cNvPr>
          <p:cNvSpPr/>
          <p:nvPr/>
        </p:nvSpPr>
        <p:spPr>
          <a:xfrm>
            <a:off x="577289" y="712797"/>
            <a:ext cx="1621278" cy="868808"/>
          </a:xfrm>
          <a:prstGeom prst="rect">
            <a:avLst/>
          </a:prstGeom>
          <a:solidFill>
            <a:srgbClr val="1559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User prompt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9CEF4B-FD99-01D1-698D-551CC23E7674}"/>
              </a:ext>
            </a:extLst>
          </p:cNvPr>
          <p:cNvSpPr/>
          <p:nvPr/>
        </p:nvSpPr>
        <p:spPr>
          <a:xfrm>
            <a:off x="3092385" y="2138354"/>
            <a:ext cx="1621278" cy="868808"/>
          </a:xfrm>
          <a:prstGeom prst="rect">
            <a:avLst/>
          </a:prstGeom>
          <a:solidFill>
            <a:srgbClr val="7C2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Binary endpoint tool</a:t>
            </a:r>
          </a:p>
        </p:txBody>
      </p:sp>
      <p:pic>
        <p:nvPicPr>
          <p:cNvPr id="7" name="Graphic 6" descr="Arrow circle with solid fill">
            <a:extLst>
              <a:ext uri="{FF2B5EF4-FFF2-40B4-BE49-F238E27FC236}">
                <a16:creationId xmlns:a16="http://schemas.microsoft.com/office/drawing/2014/main" id="{338189B6-F48B-3FA7-9656-0B9CD7889F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002" y="2703810"/>
            <a:ext cx="1428750" cy="14287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20CD734-451C-4C31-071C-5D9F2EA5F602}"/>
              </a:ext>
            </a:extLst>
          </p:cNvPr>
          <p:cNvSpPr/>
          <p:nvPr/>
        </p:nvSpPr>
        <p:spPr>
          <a:xfrm>
            <a:off x="3092385" y="3551959"/>
            <a:ext cx="1621278" cy="868808"/>
          </a:xfrm>
          <a:prstGeom prst="rect">
            <a:avLst/>
          </a:prstGeom>
          <a:solidFill>
            <a:srgbClr val="7C2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Continuous endpoint tool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567FEE-BFD7-83A3-96BE-F4B2076110EC}"/>
              </a:ext>
            </a:extLst>
          </p:cNvPr>
          <p:cNvSpPr/>
          <p:nvPr/>
        </p:nvSpPr>
        <p:spPr>
          <a:xfrm>
            <a:off x="5192202" y="2138354"/>
            <a:ext cx="1621278" cy="868808"/>
          </a:xfrm>
          <a:prstGeom prst="rect">
            <a:avLst/>
          </a:prstGeom>
          <a:solidFill>
            <a:srgbClr val="7C2E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Shiny reactive values list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AF262-E807-3CBC-9367-8E68B0D11A38}"/>
              </a:ext>
            </a:extLst>
          </p:cNvPr>
          <p:cNvSpPr/>
          <p:nvPr/>
        </p:nvSpPr>
        <p:spPr>
          <a:xfrm>
            <a:off x="6971219" y="712797"/>
            <a:ext cx="2133601" cy="8688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Assumptions table (human reviews)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5EA3CF-5A36-06B5-B4B8-012DF3129447}"/>
              </a:ext>
            </a:extLst>
          </p:cNvPr>
          <p:cNvSpPr/>
          <p:nvPr/>
        </p:nvSpPr>
        <p:spPr>
          <a:xfrm>
            <a:off x="7391889" y="3698156"/>
            <a:ext cx="1621278" cy="868808"/>
          </a:xfrm>
          <a:prstGeom prst="rect">
            <a:avLst/>
          </a:prstGeom>
          <a:solidFill>
            <a:srgbClr val="0C6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Results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015F6F-D007-B052-A38C-3EA2E3676665}"/>
              </a:ext>
            </a:extLst>
          </p:cNvPr>
          <p:cNvSpPr txBox="1"/>
          <p:nvPr/>
        </p:nvSpPr>
        <p:spPr>
          <a:xfrm>
            <a:off x="750979" y="2087081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Agent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reasoning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14AF58-63A0-9B5F-79AE-1343E3BB2E28}"/>
              </a:ext>
            </a:extLst>
          </p:cNvPr>
          <p:cNvSpPr/>
          <p:nvPr/>
        </p:nvSpPr>
        <p:spPr>
          <a:xfrm>
            <a:off x="275665" y="4098207"/>
            <a:ext cx="2218764" cy="538450"/>
          </a:xfrm>
          <a:prstGeom prst="rect">
            <a:avLst/>
          </a:prstGeom>
          <a:solidFill>
            <a:srgbClr val="B7AE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PubMed + ClinicalTrials.gov tools (not currently implemented)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A3A8A4-0B5B-14A5-06BD-0DE7E1C0488C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1383479" y="1581605"/>
            <a:ext cx="4449" cy="440962"/>
          </a:xfrm>
          <a:prstGeom prst="straightConnector1">
            <a:avLst/>
          </a:prstGeom>
          <a:ln w="635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A4D2DF-F108-C56F-1C62-44ED53B0334B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598739" y="2571750"/>
            <a:ext cx="493646" cy="1008"/>
          </a:xfrm>
          <a:prstGeom prst="straightConnector1">
            <a:avLst/>
          </a:prstGeom>
          <a:ln w="635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51C2161-D124-8825-1B1D-91B643E13AF0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598739" y="3986363"/>
            <a:ext cx="493646" cy="0"/>
          </a:xfrm>
          <a:prstGeom prst="straightConnector1">
            <a:avLst/>
          </a:prstGeom>
          <a:ln w="635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F081E72-701B-C21B-E982-68FCE2648158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4713663" y="2572758"/>
            <a:ext cx="478539" cy="0"/>
          </a:xfrm>
          <a:prstGeom prst="straightConnector1">
            <a:avLst/>
          </a:prstGeom>
          <a:ln w="635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83ADD036-163C-C32C-7739-8F3963EEB068}"/>
              </a:ext>
            </a:extLst>
          </p:cNvPr>
          <p:cNvCxnSpPr>
            <a:stCxn id="10" idx="0"/>
            <a:endCxn id="11" idx="1"/>
          </p:cNvCxnSpPr>
          <p:nvPr/>
        </p:nvCxnSpPr>
        <p:spPr>
          <a:xfrm rot="5400000" flipH="1" flipV="1">
            <a:off x="5991454" y="1158589"/>
            <a:ext cx="991153" cy="968378"/>
          </a:xfrm>
          <a:prstGeom prst="bentConnector2">
            <a:avLst/>
          </a:prstGeom>
          <a:ln w="635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0E867A90-7208-B39D-7047-76E998C70C32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6813480" y="2572758"/>
            <a:ext cx="578409" cy="1559802"/>
          </a:xfrm>
          <a:prstGeom prst="bentConnector3">
            <a:avLst>
              <a:gd name="adj1" fmla="val 50000"/>
            </a:avLst>
          </a:prstGeom>
          <a:ln w="635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A1BD688B-5C18-2C6D-0E12-5C6EF148950A}"/>
              </a:ext>
            </a:extLst>
          </p:cNvPr>
          <p:cNvCxnSpPr>
            <a:cxnSpLocks/>
            <a:stCxn id="9" idx="3"/>
            <a:endCxn id="10" idx="2"/>
          </p:cNvCxnSpPr>
          <p:nvPr/>
        </p:nvCxnSpPr>
        <p:spPr>
          <a:xfrm flipV="1">
            <a:off x="4713663" y="3007162"/>
            <a:ext cx="1289178" cy="979201"/>
          </a:xfrm>
          <a:prstGeom prst="bentConnector2">
            <a:avLst/>
          </a:prstGeom>
          <a:ln w="635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763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DCED6-5FE4-414D-E0B2-69118F5E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8263E3-54C2-6D4B-AE61-959CEDA9C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" y="530303"/>
            <a:ext cx="9039497" cy="4541351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BC0F0E33-9881-D3FB-14D5-FD17824B2089}"/>
              </a:ext>
            </a:extLst>
          </p:cNvPr>
          <p:cNvSpPr/>
          <p:nvPr/>
        </p:nvSpPr>
        <p:spPr>
          <a:xfrm>
            <a:off x="442269" y="0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1791150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DACA5-8EA8-C2B3-22DB-B33E02D96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0C0E-48BE-8BB7-3FAE-C55B66F66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06898"/>
            <a:ext cx="9143999" cy="564852"/>
          </a:xfrm>
        </p:spPr>
        <p:txBody>
          <a:bodyPr>
            <a:normAutofit fontScale="90000"/>
          </a:bodyPr>
          <a:lstStyle/>
          <a:p>
            <a:r>
              <a:rPr lang="en-US"/>
              <a:t>Key message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EAB8E9-61E1-2D18-9BE7-9206DBD6A370}"/>
              </a:ext>
            </a:extLst>
          </p:cNvPr>
          <p:cNvSpPr/>
          <p:nvPr/>
        </p:nvSpPr>
        <p:spPr>
          <a:xfrm>
            <a:off x="6309360" y="3742509"/>
            <a:ext cx="2664823" cy="1345474"/>
          </a:xfrm>
          <a:prstGeom prst="rect">
            <a:avLst/>
          </a:prstGeom>
          <a:solidFill>
            <a:srgbClr val="D52A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410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60B4-1D4F-5EB3-F8D2-FA894C6F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9ECB6C8-2FF0-5248-0AD1-6B9CDEBF468B}"/>
              </a:ext>
            </a:extLst>
          </p:cNvPr>
          <p:cNvSpPr/>
          <p:nvPr/>
        </p:nvSpPr>
        <p:spPr>
          <a:xfrm>
            <a:off x="435737" y="127992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2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51EA8-CF32-DD96-D8D2-F05680518875}"/>
              </a:ext>
            </a:extLst>
          </p:cNvPr>
          <p:cNvSpPr txBox="1"/>
          <p:nvPr/>
        </p:nvSpPr>
        <p:spPr>
          <a:xfrm>
            <a:off x="147285" y="776143"/>
            <a:ext cx="8849429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/>
              <a:t>Trusted mini-agents are reliable AI systems that preserve the productivity of LLMs.</a:t>
            </a:r>
          </a:p>
          <a:p>
            <a:endParaRPr lang="en-US" sz="2800"/>
          </a:p>
          <a:p>
            <a:r>
              <a:rPr lang="en-US" sz="2800"/>
              <a:t>They excel in precision scenarios with:</a:t>
            </a:r>
          </a:p>
          <a:p>
            <a:endParaRPr lang="en-US" sz="2800"/>
          </a:p>
          <a:p>
            <a:pPr marL="342900" indent="-342900">
              <a:buFont typeface="+mj-lt"/>
              <a:buAutoNum type="arabicPeriod"/>
            </a:pPr>
            <a:r>
              <a:rPr lang="en-US" sz="2800"/>
              <a:t>Complex agent reasoning upstream.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/>
              <a:t>Targeted nontrivial computation downstream.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>
                <a:latin typeface="Arial"/>
                <a:cs typeface="Arial"/>
              </a:rPr>
              <a:t>A bottleneck where humans easily check LLM-generated proposals.</a:t>
            </a:r>
          </a:p>
          <a:p>
            <a:pPr marL="342900" indent="-342900">
              <a:buFont typeface="+mj-lt"/>
              <a:buAutoNum type="arabicPeriod"/>
            </a:pPr>
            <a:endParaRPr lang="en-US" sz="2800">
              <a:latin typeface="Arial"/>
              <a:cs typeface="Arial"/>
            </a:endParaRPr>
          </a:p>
          <a:p>
            <a:pPr marL="342900" indent="-342900">
              <a:buFont typeface="+mj-lt"/>
              <a:buAutoNum type="arabicPeriod"/>
            </a:pPr>
            <a:endParaRPr lang="en-US" sz="2800">
              <a:latin typeface="Arial"/>
              <a:cs typeface="Arial"/>
            </a:endParaRPr>
          </a:p>
          <a:p>
            <a:pPr marL="342900" indent="-342900">
              <a:buFont typeface="+mj-lt"/>
              <a:buAutoNum type="arabicPeriod"/>
            </a:pPr>
            <a:endParaRPr lang="en-US"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0777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0CA72-121B-A88B-BBD6-FF49F643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01D5D6-D151-F49E-4021-94828A313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844" y="419197"/>
            <a:ext cx="4596311" cy="4596311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A206656-3A7B-6616-AC84-8F1D91876E41}"/>
              </a:ext>
            </a:extLst>
          </p:cNvPr>
          <p:cNvSpPr/>
          <p:nvPr/>
        </p:nvSpPr>
        <p:spPr>
          <a:xfrm>
            <a:off x="628649" y="127992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trustedminiagents.dev</a:t>
            </a:r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1204871757"/>
      </p:ext>
    </p:extLst>
  </p:cSld>
  <p:clrMapOvr>
    <a:masterClrMapping/>
  </p:clrMapOvr>
</p:sld>
</file>

<file path=ppt/theme/theme1.xml><?xml version="1.0" encoding="utf-8"?>
<a:theme xmlns:a="http://schemas.openxmlformats.org/drawingml/2006/main" name="LillyBrand">
  <a:themeElements>
    <a:clrScheme name="Lilly 1">
      <a:dk1>
        <a:srgbClr val="000000"/>
      </a:dk1>
      <a:lt1>
        <a:sysClr val="window" lastClr="FFFFFF"/>
      </a:lt1>
      <a:dk2>
        <a:srgbClr val="A59D95"/>
      </a:dk2>
      <a:lt2>
        <a:srgbClr val="D3BF96"/>
      </a:lt2>
      <a:accent1>
        <a:srgbClr val="4E2E2D"/>
      </a:accent1>
      <a:accent2>
        <a:srgbClr val="82785C"/>
      </a:accent2>
      <a:accent3>
        <a:srgbClr val="D52B17"/>
      </a:accent3>
      <a:accent4>
        <a:srgbClr val="FF6D22"/>
      </a:accent4>
      <a:accent5>
        <a:srgbClr val="263F6A"/>
      </a:accent5>
      <a:accent6>
        <a:srgbClr val="00A1DE"/>
      </a:accent6>
      <a:hlink>
        <a:srgbClr val="00AF3F"/>
      </a:hlink>
      <a:folHlink>
        <a:srgbClr val="B1059D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itmus-16.9.potx" id="{A5DC4BF6-FE05-4AD2-89AF-8060664B9897}" vid="{5A5648BF-FC70-4924-B5D8-35D05A4C8CE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illy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tmus-16.9.potx" id="{A5DC4BF6-FE05-4AD2-89AF-8060664B9897}" vid="{D61EC5C6-DD4E-4745-8ABD-0808127B09C3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Use xmlns="e4ac000d-3483-4aa0-b12f-545f7a716f28">External and Internal</Use>
    <Format xmlns="e4ac000d-3483-4aa0-b12f-545f7a716f28">PowerPoint</Format>
    <Category xmlns="e4ac000d-3483-4aa0-b12f-545f7a716f28">Presentation</Category>
    <ForMedical_x002f_Scientific_x003f_ xmlns="e4ac000d-3483-4aa0-b12f-545f7a716f28">Yes</ForMedical_x002f_Scientific_x003f_>
    <AspectRatio xmlns="e4ac000d-3483-4aa0-b12f-545f7a716f28">16:9</AspectRatio>
    <Thumbnail xmlns="e4ac000d-3483-4aa0-b12f-545f7a716f28">
      <Url xsi:nil="true"/>
      <Description xsi:nil="true"/>
    </Thumbnail>
    <SortOrd xmlns="e4ac000d-3483-4aa0-b12f-545f7a716f28" xsi:nil="true"/>
  </documentManagement>
</p:properties>
</file>

<file path=customXml/item3.xml><?xml version="1.0" encoding="utf-8"?>
<LongProperties xmlns="http://schemas.microsoft.com/office/2006/metadata/longProperties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2DC92E7081D245B0C33B57F16C64FE" ma:contentTypeVersion="17" ma:contentTypeDescription="Create a new document." ma:contentTypeScope="" ma:versionID="511fcc5f01a79005eb0082849e800d14">
  <xsd:schema xmlns:xsd="http://www.w3.org/2001/XMLSchema" xmlns:xs="http://www.w3.org/2001/XMLSchema" xmlns:p="http://schemas.microsoft.com/office/2006/metadata/properties" xmlns:ns2="e4ac000d-3483-4aa0-b12f-545f7a716f28" targetNamespace="http://schemas.microsoft.com/office/2006/metadata/properties" ma:root="true" ma:fieldsID="f17db18a41f85f591099b3f283fe8300" ns2:_="">
    <xsd:import namespace="e4ac000d-3483-4aa0-b12f-545f7a716f28"/>
    <xsd:element name="properties">
      <xsd:complexType>
        <xsd:sequence>
          <xsd:element name="documentManagement">
            <xsd:complexType>
              <xsd:all>
                <xsd:element ref="ns2:Format" minOccurs="0"/>
                <xsd:element ref="ns2:Use" minOccurs="0"/>
                <xsd:element ref="ns2:Category" minOccurs="0"/>
                <xsd:element ref="ns2:ForMedical_x002f_Scientific_x003f_" minOccurs="0"/>
                <xsd:element ref="ns2:AspectRatio" minOccurs="0"/>
                <xsd:element ref="ns2:Thumbnail" minOccurs="0"/>
                <xsd:element ref="ns2:SortOr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c000d-3483-4aa0-b12f-545f7a716f28" elementFormDefault="qualified">
    <xsd:import namespace="http://schemas.microsoft.com/office/2006/documentManagement/types"/>
    <xsd:import namespace="http://schemas.microsoft.com/office/infopath/2007/PartnerControls"/>
    <xsd:element name="Format" ma:index="8" nillable="true" ma:displayName="Format" ma:format="Dropdown" ma:internalName="Format">
      <xsd:simpleType>
        <xsd:restriction base="dms:Choice">
          <xsd:enumeration value="MS Word"/>
          <xsd:enumeration value="PowerPoint"/>
          <xsd:enumeration value="PDF"/>
          <xsd:enumeration value="Stationery"/>
        </xsd:restriction>
      </xsd:simpleType>
    </xsd:element>
    <xsd:element name="Use" ma:index="9" nillable="true" ma:displayName="Use" ma:format="Dropdown" ma:internalName="Use">
      <xsd:simpleType>
        <xsd:restriction base="dms:Choice">
          <xsd:enumeration value="Internal only"/>
          <xsd:enumeration value="External only"/>
          <xsd:enumeration value="External and Internal"/>
        </xsd:restriction>
      </xsd:simpleType>
    </xsd:element>
    <xsd:element name="Category" ma:index="10" nillable="true" ma:displayName="Category" ma:format="Dropdown" ma:internalName="Category">
      <xsd:simpleType>
        <xsd:union memberTypes="dms:Text">
          <xsd:simpleType>
            <xsd:restriction base="dms:Choice">
              <xsd:enumeration value="Presentation"/>
              <xsd:enumeration value="Brochure"/>
              <xsd:enumeration value="Card"/>
              <xsd:enumeration value="Flyer/General Document"/>
              <xsd:enumeration value="Newsletter"/>
              <xsd:enumeration value="Scientific Poster"/>
            </xsd:restriction>
          </xsd:simpleType>
        </xsd:union>
      </xsd:simpleType>
    </xsd:element>
    <xsd:element name="ForMedical_x002f_Scientific_x003f_" ma:index="11" nillable="true" ma:displayName="ForMedical/Scientific?" ma:format="Dropdown" ma:internalName="ForMedical_x002f_Scientific_x003f_">
      <xsd:simpleType>
        <xsd:restriction base="dms:Choice">
          <xsd:enumeration value="Yes"/>
          <xsd:enumeration value="No"/>
        </xsd:restriction>
      </xsd:simpleType>
    </xsd:element>
    <xsd:element name="AspectRatio" ma:index="12" nillable="true" ma:displayName="AspectRatio" ma:format="Dropdown" ma:internalName="AspectRatio">
      <xsd:simpleType>
        <xsd:union memberTypes="dms:Text">
          <xsd:simpleType>
            <xsd:restriction base="dms:Choice">
              <xsd:enumeration value="4:3"/>
              <xsd:enumeration value="16:9"/>
            </xsd:restriction>
          </xsd:simpleType>
        </xsd:union>
      </xsd:simpleType>
    </xsd:element>
    <xsd:element name="Thumbnail" ma:index="13" nillable="true" ma:displayName="Thumbnail" ma:format="Image" ma:internalName="Thumbnai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ortOrd" ma:index="14" nillable="true" ma:displayName="SortOrd" ma:internalName="SortOrd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3B8F91-C503-4D1A-8189-7581D5BCD5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5260B3-CBC5-499C-A707-A4E32F6EC29E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e4ac000d-3483-4aa0-b12f-545f7a716f28"/>
  </ds:schemaRefs>
</ds:datastoreItem>
</file>

<file path=customXml/itemProps3.xml><?xml version="1.0" encoding="utf-8"?>
<ds:datastoreItem xmlns:ds="http://schemas.openxmlformats.org/officeDocument/2006/customXml" ds:itemID="{5DEAC91B-FB85-4D38-BB63-D1B2BF03301B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F3687C57-F2C5-402A-A5EC-524D520213E8}">
  <ds:schemaRefs>
    <ds:schemaRef ds:uri="e4ac000d-3483-4aa0-b12f-545f7a716f2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LillyBrand</Template>
  <TotalTime>0</TotalTime>
  <Words>1334</Words>
  <Application>Microsoft Office PowerPoint</Application>
  <PresentationFormat>On-screen Show (16:9)</PresentationFormat>
  <Paragraphs>299</Paragraphs>
  <Slides>32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LillyBrand</vt:lpstr>
      <vt:lpstr>Custom Design</vt:lpstr>
      <vt:lpstr> Trusted Mini-Agents: Leveraging AI Where Correctness Matters  </vt:lpstr>
      <vt:lpstr>Goal: engineer hallucinations out of AI agents</vt:lpstr>
      <vt:lpstr>Parts of an agent</vt:lpstr>
      <vt:lpstr>PowerPoint Presentation</vt:lpstr>
      <vt:lpstr>Example: Claude Code</vt:lpstr>
      <vt:lpstr>Claude Code is not designed to control hallucinations.</vt:lpstr>
      <vt:lpstr>Controlling hallucinations</vt:lpstr>
      <vt:lpstr>Large language models hallucinate.</vt:lpstr>
      <vt:lpstr>Tools add context but may not prevent hallucinations.  </vt:lpstr>
      <vt:lpstr>Fix 1 of 3: help the human review the location.</vt:lpstr>
      <vt:lpstr>Fix 2 of 3: bypass the LLM to report the weather.</vt:lpstr>
      <vt:lpstr>Beware untrusted tools! (Claude Code has many!)</vt:lpstr>
      <vt:lpstr>Fix 3 of 3: never bypass the get_weather() tool.</vt:lpstr>
      <vt:lpstr>Trusted mini-agents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Implementing trusted mini-agents</vt:lpstr>
      <vt:lpstr>PowerPoint Presentation</vt:lpstr>
      <vt:lpstr>PowerPoint Presentation</vt:lpstr>
      <vt:lpstr>PowerPoint Presentation</vt:lpstr>
      <vt:lpstr>PowerPoint Presentation</vt:lpstr>
      <vt:lpstr>Example: clinical trial simulation</vt:lpstr>
      <vt:lpstr>PowerPoint Presentation</vt:lpstr>
      <vt:lpstr>PowerPoint Presentation</vt:lpstr>
      <vt:lpstr>PowerPoint Presentation</vt:lpstr>
      <vt:lpstr>Key message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 Landau</dc:creator>
  <cp:lastModifiedBy>Will Landau</cp:lastModifiedBy>
  <cp:revision>2</cp:revision>
  <dcterms:created xsi:type="dcterms:W3CDTF">2020-01-14T17:04:25Z</dcterms:created>
  <dcterms:modified xsi:type="dcterms:W3CDTF">2026-09-24T14:25:21Z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22200</vt:r8>
  </property>
  <property fmtid="{D5CDD505-2E9C-101B-9397-08002B2CF9AE}" pid="3" name="Presentation Type">
    <vt:lpwstr>Office Documents</vt:lpwstr>
  </property>
  <property fmtid="{D5CDD505-2E9C-101B-9397-08002B2CF9AE}" pid="4" name="TaxCatchAll">
    <vt:lpwstr/>
  </property>
  <property fmtid="{D5CDD505-2E9C-101B-9397-08002B2CF9AE}" pid="5" name="EnterpriseDocumentLanguageTaxHTField0">
    <vt:lpwstr>2;#eng|39540796-0396-4e54-afe9-a602f28bbe8f</vt:lpwstr>
  </property>
  <property fmtid="{D5CDD505-2E9C-101B-9397-08002B2CF9AE}" pid="6" name="EnterpriseSensitivityClassificationTaxHTField0">
    <vt:lpwstr>3;#GREEN|ec74153f-63be-46a4-ae5f-1b86c809897d</vt:lpwstr>
  </property>
  <property fmtid="{D5CDD505-2E9C-101B-9397-08002B2CF9AE}" pid="7" name="EnterpriseRecordSeriesCodeTaxHTField0">
    <vt:lpwstr>1;#ADM130|70dc3311-3e76-421c-abfa-d108df48853c</vt:lpwstr>
  </property>
  <property fmtid="{D5CDD505-2E9C-101B-9397-08002B2CF9AE}" pid="8" name="EnterpriseDocumentLanguage">
    <vt:lpwstr>2;#eng|39540796-0396-4e54-afe9-a602f28bbe8f</vt:lpwstr>
  </property>
  <property fmtid="{D5CDD505-2E9C-101B-9397-08002B2CF9AE}" pid="9" name="EnterpriseRecordSeriesCode">
    <vt:lpwstr>5;#ADM140|fdc85ba1-0671-407c-9ace-d011131f3a70</vt:lpwstr>
  </property>
  <property fmtid="{D5CDD505-2E9C-101B-9397-08002B2CF9AE}" pid="10" name="ContentTypeId">
    <vt:lpwstr>0x010100FB2DC92E7081D245B0C33B57F16C64FE</vt:lpwstr>
  </property>
  <property fmtid="{D5CDD505-2E9C-101B-9397-08002B2CF9AE}" pid="11" name="EnterpriseSensitivityClassification">
    <vt:lpwstr>3;#GREEN|ec74153f-63be-46a4-ae5f-1b86c809897d</vt:lpwstr>
  </property>
</Properties>
</file>